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bfcc86a95746f4" /><Relationship Type="http://schemas.openxmlformats.org/officeDocument/2006/relationships/extended-properties" Target="/docProps/app.xml" Id="R6d004bc3c0e443bd" /><Relationship Type="http://schemas.openxmlformats.org/officeDocument/2006/relationships/officeDocument" Target="/ppt/presentation.xml" Id="Rbb7a46fe191148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427118534d44ec"/>
  </p:sldMasterIdLst>
  <p:notesMasterIdLst>
    <p:notesMasterId xmlns:r="http://schemas.openxmlformats.org/officeDocument/2006/relationships" r:id="Rfd374af760274314"/>
  </p:notesMasterIdLst>
  <p:sldIdLst>
    <p:sldId xmlns:r="http://schemas.openxmlformats.org/officeDocument/2006/relationships" id="256" r:id="R41693b14649947f3"/>
    <p:sldId xmlns:r="http://schemas.openxmlformats.org/officeDocument/2006/relationships" id="257" r:id="Rfc2f20d02a224c1a"/>
    <p:sldId xmlns:r="http://schemas.openxmlformats.org/officeDocument/2006/relationships" id="258" r:id="Rbf759b3b32c1409f"/>
    <p:sldId xmlns:r="http://schemas.openxmlformats.org/officeDocument/2006/relationships" id="259" r:id="Rbac9334200b248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669a5427214688" /><Relationship Type="http://schemas.openxmlformats.org/officeDocument/2006/relationships/slideMaster" Target="/ppt/slideMasters/slideMaster1.xml" Id="Rb6427118534d44ec" /><Relationship Type="http://schemas.openxmlformats.org/officeDocument/2006/relationships/notesMaster" Target="/ppt/notesMasters/notesMaster1.xml" Id="Rfd374af760274314" /><Relationship Type="http://schemas.openxmlformats.org/officeDocument/2006/relationships/presProps" Target="/ppt/presProps.xml" Id="R2566334489d94214" /><Relationship Type="http://schemas.openxmlformats.org/officeDocument/2006/relationships/viewProps" Target="/ppt/viewProps.xml" Id="Rda53277e6add4248" /><Relationship Type="http://schemas.openxmlformats.org/officeDocument/2006/relationships/tableStyles" Target="/ppt/tableStyles.xml" Id="R92fe5ef6a54a4aeb" /><Relationship Type="http://schemas.openxmlformats.org/officeDocument/2006/relationships/slide" Target="/ppt/slides/slide1.xml" Id="R41693b14649947f3" /><Relationship Type="http://schemas.openxmlformats.org/officeDocument/2006/relationships/slide" Target="/ppt/slides/slide2.xml" Id="Rfc2f20d02a224c1a" /><Relationship Type="http://schemas.openxmlformats.org/officeDocument/2006/relationships/slide" Target="/ppt/slides/slide3.xml" Id="Rbf759b3b32c1409f" /><Relationship Type="http://schemas.openxmlformats.org/officeDocument/2006/relationships/slide" Target="/ppt/slides/slide4.xml" Id="Rbac9334200b248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fab9a74e4b41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2ff51a320e4613" /><Relationship Type="http://schemas.openxmlformats.org/officeDocument/2006/relationships/notesMaster" Target="/ppt/notesMasters/notesMaster1.xml" Id="R113d4434bbb345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67359797ec4591" /><Relationship Type="http://schemas.openxmlformats.org/officeDocument/2006/relationships/notesMaster" Target="/ppt/notesMasters/notesMaster1.xml" Id="R4b5f39bbc7d04c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43604bf8f44200" /><Relationship Type="http://schemas.openxmlformats.org/officeDocument/2006/relationships/notesMaster" Target="/ppt/notesMasters/notesMaster1.xml" Id="Re79256d104eb46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c40bbe9c534df9" /><Relationship Type="http://schemas.openxmlformats.org/officeDocument/2006/relationships/notesMaster" Target="/ppt/notesMasters/notesMaster1.xml" Id="R7043aa3e9e6c44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左侧展示教师写清班级特点与分层需要。</a:t>
            </a:r>
          </a:p>
          <a:p xmlns:a="http://schemas.openxmlformats.org/drawingml/2006/main">
            <a:r>
              <a:t>右侧使用最新页面截图，突出本次任务所选择的教师、组织、班级、课程、单元与教学资料 Context。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本页只讲个性化学情如何改变产出内容。</a:t>
            </a:r>
          </a:p>
          <a:p xmlns:a="http://schemas.openxmlformats.org/drawingml/2006/main">
            <a:r>
              <a:t>主图恢复为最初的课件全页预览，红框强调面向不同学习准备度的 A/B/C 分层练习路径。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本页讲个性化题目解析的输入基础。</a:t>
            </a:r>
          </a:p>
          <a:p xmlns:a="http://schemas.openxmlformats.org/drawingml/2006/main">
            <a:r>
              <a:t>ClassIn 的差异在于拥有真实教学场景中的班级、课程进度、学生学情，以及师生画像。</a:t>
            </a:r>
          </a:p>
          <a:p xmlns:a="http://schemas.openxmlformats.org/drawingml/2006/main">
            <a:r>
              <a:t>这些信息共同进入一次任务，而不是只靠一句提示词。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本页讲多源个性化输入如何改变生成结果。</a:t>
            </a:r>
          </a:p>
          <a:p xmlns:a="http://schemas.openxmlformats.org/drawingml/2006/main">
            <a:r>
              <a:t>讲解不是只给最终答案，而是针对学生的具体困难，沿老师熟悉的教学路径展开。</a:t>
            </a:r>
          </a:p>
          <a:p xmlns:a="http://schemas.openxmlformats.org/drawingml/2006/main">
            <a:r>
              <a:t>最终产出包含真实题目、公式、计算、步骤、自检点与完整答案。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448495a1f44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8e65e9935c4ae0" /><Relationship Type="http://schemas.openxmlformats.org/officeDocument/2006/relationships/slideLayout" Target="/ppt/slideLayouts/slideLayout1.xml" Id="R4957c8ff59b1425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57c8ff59b142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b8e18555e4160" /><Relationship Type="http://schemas.openxmlformats.org/officeDocument/2006/relationships/image" Target="/ppt/media/image.jpeg" Id="R726356e0086d4cdc" /><Relationship Type="http://schemas.openxmlformats.org/officeDocument/2006/relationships/image" Target="/ppt/media/image2.jpeg" Id="R1c2758f8d59a400a" /><Relationship Type="http://schemas.openxmlformats.org/officeDocument/2006/relationships/notesSlide" Target="/ppt/notesSlides/notesSlide1.xml" Id="R11573692b65840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853ae9d2c47f2" /><Relationship Type="http://schemas.openxmlformats.org/officeDocument/2006/relationships/image" Target="/ppt/media/image2.jpeg" Id="R3019cc7099e14b77" /><Relationship Type="http://schemas.openxmlformats.org/officeDocument/2006/relationships/notesSlide" Target="/ppt/notesSlides/notesSlide2.xml" Id="R6fb4fee5a84646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2fe970d9a4b55" /><Relationship Type="http://schemas.openxmlformats.org/officeDocument/2006/relationships/image" Target="/ppt/media/image.png" Id="R9ea8964182b842ce" /><Relationship Type="http://schemas.openxmlformats.org/officeDocument/2006/relationships/notesSlide" Target="/ppt/notesSlides/notesSlide3.xml" Id="R4cd900b2a14c4f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51a2c1af049e3" /><Relationship Type="http://schemas.openxmlformats.org/officeDocument/2006/relationships/image" Target="/ppt/media/image2.png" Id="Reb24fe5422994635" /><Relationship Type="http://schemas.openxmlformats.org/officeDocument/2006/relationships/notesSlide" Target="/ppt/notesSlides/notesSlide4.xml" Id="R2deb8fb0b78e4e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E198878-8A03-443E-A1C8-4282F363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01BA80B-9D09-4840-9C1B-6BE58B1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0865A"/>
                </a:solidFill>
              </a:defRPr>
            </a:pPr>
            <a:r>
              <a:rPr sz="1200" b="1">
                <a:solidFill>
                  <a:srgbClr val="00865A"/>
                </a:solidFill>
              </a:rPr>
              <a:t>个性化课件生成 · 目标与 Context</a:t>
            </a:r>
            <a:endParaRPr sz="1200" b="1">
              <a:solidFill>
                <a:srgbClr val="00865A"/>
              </a:solidFill>
            </a:endParaRP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99EF6E-1758-4BE8-B311-AB402976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11C"/>
                </a:solidFill>
              </a:defRPr>
            </a:pPr>
            <a:r>
              <a:rPr sz="3000" b="1">
                <a:solidFill>
                  <a:srgbClr val="17211C"/>
                </a:solidFill>
              </a:rPr>
              <a:t>TeachBuddy 先理解这个班，再开始生成</a:t>
            </a:r>
            <a:endParaRPr sz="3000" b="1">
              <a:solidFill>
                <a:srgbClr val="17211C"/>
              </a:solidFill>
            </a:endParaRP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E7A1FB7-1B00-46A6-9D42-C5CE7922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5726B"/>
                </a:solidFill>
              </a:defRPr>
            </a:pPr>
            <a:r>
              <a:rPr sz="1350">
                <a:solidFill>
                  <a:srgbClr val="65726B"/>
                </a:solidFill>
              </a:rPr>
              <a:t>教师描述班级特点；班级学情与学生个人 soul.md 共同进入本次任务 Context。</a:t>
            </a:r>
            <a:endParaRPr sz="1350">
              <a:solidFill>
                <a:srgbClr val="65726B"/>
              </a:solidFill>
            </a:endParaRPr>
          </a:p>
        </p:txBody>
      </p:sp>
      <p:sp>
        <p:nvSpPr>
          <p:cNvPr id="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D7691AD-0AFD-41AF-BFA0-6C8EAEAD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181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865A"/>
                </a:solidFill>
              </a:defRPr>
            </a:pPr>
            <a:r>
              <a:rPr sz="1200" b="1">
                <a:solidFill>
                  <a:srgbClr val="00865A"/>
                </a:solidFill>
              </a:rPr>
              <a:t>个性化学情</a:t>
            </a:r>
            <a:endParaRPr sz="1200" b="1">
              <a:solidFill>
                <a:srgbClr val="00865A"/>
              </a:solidFill>
            </a:endParaRPr>
          </a:p>
        </p:txBody>
      </p:sp>
      <p:sp>
        <p:nvSpPr>
          <p:cNvPr id="6" name="sequence-line">
            <a:extLst xmlns:a="http://schemas.openxmlformats.org/drawingml/2006/main">
              <a:ext uri="{FF2B5EF4-FFF2-40B4-BE49-F238E27FC236}">
                <a16:creationId xmlns:a16="http://schemas.microsoft.com/office/drawing/2014/main" id="{266F81D3-1703-4DD4-82D2-9B467372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B4F48E3B-9B78-4D9C-8548-0E8E6FFF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65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8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E555025E-BDCD-43A0-AAEC-11A36C36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144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11C"/>
                </a:solidFill>
              </a:defRPr>
            </a:pPr>
            <a:r>
              <a:rPr sz="1575" b="1">
                <a:solidFill>
                  <a:srgbClr val="17211C"/>
                </a:solidFill>
              </a:rPr>
              <a:t>教师写清班级特点</a:t>
            </a:r>
            <a:endParaRPr sz="1575" b="1">
              <a:solidFill>
                <a:srgbClr val="17211C"/>
              </a:solidFill>
            </a:endParaRPr>
          </a:p>
        </p:txBody>
      </p:sp>
      <p:sp>
        <p:nvSpPr>
          <p:cNvPr id="9" name="stage-1-frame">
            <a:extLst xmlns:a="http://schemas.openxmlformats.org/drawingml/2006/main">
              <a:ext uri="{FF2B5EF4-FFF2-40B4-BE49-F238E27FC236}">
                <a16:creationId xmlns:a16="http://schemas.microsoft.com/office/drawing/2014/main" id="{CC43C887-4C5F-4E49-AEAA-3C1A2D15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33575"/>
            <a:ext cx="5295900" cy="26670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D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pic>
        <p:nvPicPr>
          <p:cNvPr id="47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356e0086d4cdc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952625"/>
            <a:ext cx="5257800" cy="2628900"/>
          </a:xfrm>
          <a:prstGeom xmlns:a="http://schemas.openxmlformats.org/drawingml/2006/main" prst="roundRect">
            <a:avLst/>
          </a:prstGeom>
        </p:spPr>
      </p:pic>
      <p:sp>
        <p:nvSpPr>
          <p:cNvPr id="11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78E18398-EFFA-47EA-953F-84E76B05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明确本班三类易错点，以及 8 / 15 / 7 三组学生需要的不同学习支架。</a:t>
            </a:r>
            <a:endParaRPr sz="1200">
              <a:solidFill>
                <a:srgbClr val="65726B"/>
              </a:solidFill>
            </a:endParaRPr>
          </a:p>
        </p:txBody>
      </p:sp>
      <p:sp>
        <p:nvSpPr>
          <p:cNvPr id="12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7564E55A-3555-445F-AB6B-1A57AFDE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3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AEF27717-37A3-456C-B4E2-BEC7C7C1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144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11C"/>
                </a:solidFill>
              </a:defRPr>
            </a:pPr>
            <a:r>
              <a:rPr sz="1575" b="1">
                <a:solidFill>
                  <a:srgbClr val="17211C"/>
                </a:solidFill>
              </a:rPr>
              <a:t>确认本次任务 Context</a:t>
            </a:r>
            <a:endParaRPr sz="1575" b="1">
              <a:solidFill>
                <a:srgbClr val="17211C"/>
              </a:solidFill>
            </a:endParaRPr>
          </a:p>
        </p:txBody>
      </p:sp>
      <p:sp>
        <p:nvSpPr>
          <p:cNvPr id="14" name="stage-2-frame">
            <a:extLst xmlns:a="http://schemas.openxmlformats.org/drawingml/2006/main">
              <a:ext uri="{FF2B5EF4-FFF2-40B4-BE49-F238E27FC236}">
                <a16:creationId xmlns:a16="http://schemas.microsoft.com/office/drawing/2014/main" id="{0D091988-3293-4EF9-AF4C-A3EF8764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33575"/>
            <a:ext cx="5295900" cy="26670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D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pic>
        <p:nvPicPr>
          <p:cNvPr id="52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758f8d59a400a"/>
          <a:srcRect xmlns:a="http://schemas.openxmlformats.org/drawingml/2006/main" l="0" t="6098" r="0" b="60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952625"/>
            <a:ext cx="5257800" cy="2628900"/>
          </a:xfrm>
          <a:prstGeom xmlns:a="http://schemas.openxmlformats.org/drawingml/2006/main" prst="roundRect">
            <a:avLst/>
          </a:prstGeom>
        </p:spPr>
      </p:pic>
      <p:sp>
        <p:nvSpPr>
          <p:cNvPr id="16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5D81F48A-8CCD-40FB-8F53-3C9879F9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教师、组织、班级、课程、单元与教学资料，共同进入当前任务快照。</a:t>
            </a:r>
            <a:endParaRPr sz="1200">
              <a:solidFill>
                <a:srgbClr val="65726B"/>
              </a:solidFill>
            </a:endParaRPr>
          </a:p>
        </p:txBody>
      </p:sp>
      <p:sp>
        <p:nvSpPr>
          <p:cNvPr id="22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D9D39B88-0D59-4800-BA74-ABD47912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10871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B7DCCA"/>
            </a:solidFill>
            <a:prstDash val="solid"/>
          </a:ln>
        </p:spPr>
      </p:sp>
      <p:sp>
        <p:nvSpPr>
          <p:cNvPr id="23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0E9AF1CF-6212-4C2F-B1F8-2E977F43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B2C880BA-805F-47BA-9EA7-C276CDEE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E503B"/>
                </a:solidFill>
              </a:defRPr>
            </a:pPr>
            <a:r>
              <a:rPr sz="1500" b="1">
                <a:solidFill>
                  <a:srgbClr val="0E503B"/>
                </a:solidFill>
              </a:rPr>
              <a:t>关键原则</a:t>
            </a:r>
            <a:endParaRPr sz="1500" b="1">
              <a:solidFill>
                <a:srgbClr val="0E503B"/>
              </a:solidFill>
            </a:endParaRPr>
          </a:p>
        </p:txBody>
      </p:sp>
      <p:sp>
        <p:nvSpPr>
          <p:cNvPr id="25" name="takeaway-copy">
            <a:extLst xmlns:a="http://schemas.openxmlformats.org/drawingml/2006/main">
              <a:ext uri="{FF2B5EF4-FFF2-40B4-BE49-F238E27FC236}">
                <a16:creationId xmlns:a16="http://schemas.microsoft.com/office/drawing/2014/main" id="{AACDFD04-A1C0-4BFF-9CA4-C95A1DBE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1497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211C"/>
                </a:solidFill>
              </a:defRPr>
            </a:pPr>
            <a:r>
              <a:t>先理解“这个班”和“这些学生”，再决定生成什么、怎么教。</a:t>
            </a:r>
            <a:endParaRPr sz="1725" b="1">
              <a:solidFill>
                <a:srgbClr val="17211C"/>
              </a:solidFill>
            </a:endParaRPr>
          </a:p>
        </p:txBody>
      </p:sp>
      <p:sp>
        <p:nvSpPr>
          <p:cNvPr id="26" name="takeaway-detail">
            <a:extLst xmlns:a="http://schemas.openxmlformats.org/drawingml/2006/main">
              <a:ext uri="{FF2B5EF4-FFF2-40B4-BE49-F238E27FC236}">
                <a16:creationId xmlns:a16="http://schemas.microsoft.com/office/drawing/2014/main" id="{55C9E811-AB11-4818-872C-18DB3939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91502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教师输入 + 班级学情 + 学生个人 soul.md → 本次任务 Context</a:t>
            </a:r>
            <a:endParaRPr sz="1200">
              <a:solidFill>
                <a:srgbClr val="65726B"/>
              </a:solidFill>
            </a:endParaRPr>
          </a:p>
        </p:txBody>
      </p:sp>
      <p:sp>
        <p:nvSpPr>
          <p:cNvPr id="34" name="highlight-class-profile">
            <a:extLst xmlns:a="http://schemas.openxmlformats.org/drawingml/2006/main">
              <a:ext uri="{FF2B5EF4-FFF2-40B4-BE49-F238E27FC236}">
                <a16:creationId xmlns:a16="http://schemas.microsoft.com/office/drawing/2014/main" id="{AEF784CE-A4E7-4B29-B96C-1297993B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125" y="2515870"/>
            <a:ext cx="3471545" cy="1152525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3B30"/>
            </a:solidFill>
            <a:prstDash val="solid"/>
          </a:ln>
        </p:spPr>
      </p:sp>
      <p:sp>
        <p:nvSpPr>
          <p:cNvPr id="35" name="highlight-context-sources">
            <a:extLst xmlns:a="http://schemas.openxmlformats.org/drawingml/2006/main">
              <a:ext uri="{FF2B5EF4-FFF2-40B4-BE49-F238E27FC236}">
                <a16:creationId xmlns:a16="http://schemas.microsoft.com/office/drawing/2014/main" id="{FFC4AF51-72D5-4079-AA69-CA2E80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395" y="2019300"/>
            <a:ext cx="1322705" cy="2400300"/>
          </a:xfrm>
          <a:prstGeom xmlns:a="http://schemas.openxmlformats.org/drawingml/2006/main" prst="roundRect">
            <a:avLst>
              <a:gd name="adj" fmla="val 3681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3B3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7727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accent">
            <a:extLst xmlns:a="http://schemas.openxmlformats.org/drawingml/2006/main">
              <a:ext uri="{FF2B5EF4-FFF2-40B4-BE49-F238E27FC236}">
                <a16:creationId xmlns:a16="http://schemas.microsoft.com/office/drawing/2014/main" id="{9717ABFD-C1CE-414A-AD3C-639083D7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5F6F6DEE-6DAA-4708-8924-CAACE5FB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0865A"/>
                </a:solidFill>
              </a:defRPr>
            </a:pPr>
            <a:r>
              <a:rPr sz="1200" b="1">
                <a:solidFill>
                  <a:srgbClr val="00865A"/>
                </a:solidFill>
              </a:rPr>
              <a:t>个性化课件生成 · 内容落地</a:t>
            </a:r>
            <a:endParaRPr sz="1200" b="1">
              <a:solidFill>
                <a:srgbClr val="00865A"/>
              </a:solidFill>
            </a:endParaRP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D6882D-245D-4D94-9497-E7020BC1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11C"/>
                </a:solidFill>
              </a:defRPr>
            </a:pPr>
            <a:r>
              <a:rPr sz="3000" b="1">
                <a:solidFill>
                  <a:srgbClr val="17211C"/>
                </a:solidFill>
              </a:rPr>
              <a:t>个性化学情直接进入课件内容</a:t>
            </a:r>
            <a:endParaRPr sz="3000" b="1">
              <a:solidFill>
                <a:srgbClr val="17211C"/>
              </a:solidFill>
            </a:endParaRP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99E5B30-E43B-4A50-A5A4-3A622A34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5726B"/>
                </a:solidFill>
              </a:defRPr>
            </a:pPr>
            <a:r>
              <a:rPr sz="1350">
                <a:solidFill>
                  <a:srgbClr val="65726B"/>
                </a:solidFill>
              </a:rPr>
              <a:t>同一个教学目标，依据学生学习准备度提供不同支架与练习路径。</a:t>
            </a:r>
            <a:endParaRPr sz="1350">
              <a:solidFill>
                <a:srgbClr val="65726B"/>
              </a:solidFill>
            </a:endParaRPr>
          </a:p>
        </p:txBody>
      </p:sp>
      <p:sp>
        <p:nvSpPr>
          <p:cNvPr id="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3A47651-C3B8-4E9A-ACCF-D540AD50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181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865A"/>
                </a:solidFill>
              </a:defRPr>
            </a:pPr>
            <a:r>
              <a:rPr sz="1200" b="1">
                <a:solidFill>
                  <a:srgbClr val="00865A"/>
                </a:solidFill>
              </a:rPr>
              <a:t>针对性内容生产</a:t>
            </a:r>
            <a:endParaRPr sz="1200" b="1">
              <a:solidFill>
                <a:srgbClr val="00865A"/>
              </a:solidFill>
            </a:endParaRPr>
          </a:p>
        </p:txBody>
      </p:sp>
      <p:sp>
        <p:nvSpPr>
          <p:cNvPr id="6" name="sequence-line">
            <a:extLst xmlns:a="http://schemas.openxmlformats.org/drawingml/2006/main">
              <a:ext uri="{FF2B5EF4-FFF2-40B4-BE49-F238E27FC236}">
                <a16:creationId xmlns:a16="http://schemas.microsoft.com/office/drawing/2014/main" id="{703CEE28-F2FC-4024-8DDA-9072EAFE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C9E3BAD5-2216-46D1-B8BC-876C9FEC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65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8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EA91996D-98DD-44E6-9978-8F489986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144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11C"/>
                </a:solidFill>
              </a:defRPr>
            </a:pPr>
            <a:r>
              <a:rPr sz="1575" b="1">
                <a:solidFill>
                  <a:srgbClr val="17211C"/>
                </a:solidFill>
              </a:rPr>
              <a:t>典型课件页：A / B / C 分层路径</a:t>
            </a:r>
            <a:endParaRPr sz="1575" b="1">
              <a:solidFill>
                <a:srgbClr val="17211C"/>
              </a:solidFill>
            </a:endParaRPr>
          </a:p>
        </p:txBody>
      </p:sp>
      <p:sp>
        <p:nvSpPr>
          <p:cNvPr id="9" name="stage-1-frame">
            <a:extLst xmlns:a="http://schemas.openxmlformats.org/drawingml/2006/main">
              <a:ext uri="{FF2B5EF4-FFF2-40B4-BE49-F238E27FC236}">
                <a16:creationId xmlns:a16="http://schemas.microsoft.com/office/drawing/2014/main" id="{FC723D0B-9B1F-4329-BAC3-B35341F8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33575"/>
            <a:ext cx="8020050" cy="28575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D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849372C6-AD7F-4EC0-B35F-CB767D4A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798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课件不是统一难度的内容堆叠，而是把图像化引导、例题迁移和参数挑战组织成三条学习路径。</a:t>
            </a:r>
            <a:endParaRPr sz="1200">
              <a:solidFill>
                <a:srgbClr val="65726B"/>
              </a:solidFill>
            </a:endParaRPr>
          </a:p>
        </p:txBody>
      </p:sp>
      <p:sp>
        <p:nvSpPr>
          <p:cNvPr id="12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00AA2018-D223-4DD7-82EE-65D4C56E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04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3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8E9CB6BE-277C-487A-ABF0-66F36663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14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11C"/>
                </a:solidFill>
              </a:defRPr>
            </a:pPr>
            <a:r>
              <a:rPr sz="1575" b="1">
                <a:solidFill>
                  <a:srgbClr val="17211C"/>
                </a:solidFill>
              </a:rPr>
              <a:t>个性化如何落到内容</a:t>
            </a:r>
            <a:endParaRPr sz="1575" b="1">
              <a:solidFill>
                <a:srgbClr val="17211C"/>
              </a:solidFill>
            </a:endParaRPr>
          </a:p>
        </p:txBody>
      </p:sp>
      <p:sp>
        <p:nvSpPr>
          <p:cNvPr id="14" name="stage-2-frame">
            <a:extLst xmlns:a="http://schemas.openxmlformats.org/drawingml/2006/main">
              <a:ext uri="{FF2B5EF4-FFF2-40B4-BE49-F238E27FC236}">
                <a16:creationId xmlns:a16="http://schemas.microsoft.com/office/drawing/2014/main" id="{8D55690B-FB60-4CA6-AEF4-6CA8301C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33575"/>
            <a:ext cx="2857500" cy="3400425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D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pic>
        <p:nvPicPr>
          <p:cNvPr id="47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9cc7099e14b77"/>
          <a:srcRect xmlns:a="http://schemas.openxmlformats.org/drawingml/2006/main" l="0" t="18602" r="0" b="186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952625"/>
            <a:ext cx="7981950" cy="2819400"/>
          </a:xfrm>
          <a:prstGeom xmlns:a="http://schemas.openxmlformats.org/drawingml/2006/main" prst="roundRect">
            <a:avLst/>
          </a:prstGeom>
        </p:spPr>
      </p:pic>
      <p:sp>
        <p:nvSpPr>
          <p:cNvPr id="16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D20FBA21-6A6C-4299-BEC3-92EB4A1C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38375"/>
            <a:ext cx="2209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A 路径</a:t>
            </a:r>
            <a:endParaRPr sz="1200">
              <a:solidFill>
                <a:srgbClr val="65726B"/>
              </a:solidFill>
            </a:endParaRPr>
          </a:p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看图说变化</a:t>
            </a:r>
            <a:endParaRPr sz="1200">
              <a:solidFill>
                <a:srgbClr val="65726B"/>
              </a:solidFill>
            </a:endParaRPr>
          </a:p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endParaRPr sz="1200">
              <a:solidFill>
                <a:srgbClr val="65726B"/>
              </a:solidFill>
            </a:endParaRPr>
          </a:p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B 路径</a:t>
            </a:r>
            <a:endParaRPr sz="1200">
              <a:solidFill>
                <a:srgbClr val="65726B"/>
              </a:solidFill>
            </a:endParaRPr>
          </a:p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例题迁移判断</a:t>
            </a:r>
            <a:endParaRPr sz="1200">
              <a:solidFill>
                <a:srgbClr val="65726B"/>
              </a:solidFill>
            </a:endParaRPr>
          </a:p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endParaRPr sz="1200">
              <a:solidFill>
                <a:srgbClr val="65726B"/>
              </a:solidFill>
            </a:endParaRPr>
          </a:p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C 路径</a:t>
            </a:r>
            <a:endParaRPr sz="1200">
              <a:solidFill>
                <a:srgbClr val="65726B"/>
              </a:solidFill>
            </a:endParaRPr>
          </a:p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参数变化探究</a:t>
            </a:r>
            <a:endParaRPr sz="1200">
              <a:solidFill>
                <a:srgbClr val="65726B"/>
              </a:solidFill>
            </a:endParaRPr>
          </a:p>
        </p:txBody>
      </p:sp>
      <p:sp>
        <p:nvSpPr>
          <p:cNvPr id="22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9A0812A9-348A-4A8B-968B-032C6133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10871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B7DCCA"/>
            </a:solidFill>
            <a:prstDash val="solid"/>
          </a:ln>
        </p:spPr>
      </p:sp>
      <p:sp>
        <p:nvSpPr>
          <p:cNvPr id="23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BF34676D-74CE-45F0-BDE5-AA91FE9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708DECFC-D9FD-4FC2-B80C-FF57CB4A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E503B"/>
                </a:solidFill>
              </a:defRPr>
            </a:pPr>
            <a:r>
              <a:rPr sz="1500" b="1">
                <a:solidFill>
                  <a:srgbClr val="0E503B"/>
                </a:solidFill>
              </a:rPr>
              <a:t>关键原则</a:t>
            </a:r>
            <a:endParaRPr sz="1500" b="1">
              <a:solidFill>
                <a:srgbClr val="0E503B"/>
              </a:solidFill>
            </a:endParaRPr>
          </a:p>
        </p:txBody>
      </p:sp>
      <p:sp>
        <p:nvSpPr>
          <p:cNvPr id="25" name="takeaway-copy">
            <a:extLst xmlns:a="http://schemas.openxmlformats.org/drawingml/2006/main">
              <a:ext uri="{FF2B5EF4-FFF2-40B4-BE49-F238E27FC236}">
                <a16:creationId xmlns:a16="http://schemas.microsoft.com/office/drawing/2014/main" id="{703D5EE2-AFFE-4620-A519-7178BF34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1497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211C"/>
                </a:solidFill>
              </a:defRPr>
            </a:pPr>
            <a:r>
              <a:t>个性化不是一句提示词，而是课件结构、教学支架和练习难度发生变化。</a:t>
            </a:r>
            <a:endParaRPr sz="1725" b="1">
              <a:solidFill>
                <a:srgbClr val="17211C"/>
              </a:solidFill>
            </a:endParaRPr>
          </a:p>
        </p:txBody>
      </p:sp>
      <p:sp>
        <p:nvSpPr>
          <p:cNvPr id="26" name="takeaway-detail">
            <a:extLst xmlns:a="http://schemas.openxmlformats.org/drawingml/2006/main">
              <a:ext uri="{FF2B5EF4-FFF2-40B4-BE49-F238E27FC236}">
                <a16:creationId xmlns:a16="http://schemas.microsoft.com/office/drawing/2014/main" id="{F8FF34DA-29D4-4120-8C6E-2D8110B3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91502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班级共性 + 学生差异 → 针对性的教学内容与解题资料</a:t>
            </a:r>
            <a:endParaRPr sz="1200">
              <a:solidFill>
                <a:srgbClr val="65726B"/>
              </a:solidFill>
            </a:endParaRPr>
          </a:p>
        </p:txBody>
      </p:sp>
      <p:sp>
        <p:nvSpPr>
          <p:cNvPr id="32" name="highlight-learning-paths">
            <a:extLst xmlns:a="http://schemas.openxmlformats.org/drawingml/2006/main">
              <a:ext uri="{FF2B5EF4-FFF2-40B4-BE49-F238E27FC236}">
                <a16:creationId xmlns:a16="http://schemas.microsoft.com/office/drawing/2014/main" id="{FBD6E721-3E60-4367-AE7C-004BC04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3476625" cy="1390650"/>
          </a:xfrm>
          <a:prstGeom xmlns:a="http://schemas.openxmlformats.org/drawingml/2006/main" prst="roundRect">
            <a:avLst>
              <a:gd name="adj" fmla="val 4878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3B3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2493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ule">
            <a:extLst xmlns:a="http://schemas.openxmlformats.org/drawingml/2006/main">
              <a:ext uri="{FF2B5EF4-FFF2-40B4-BE49-F238E27FC236}">
                <a16:creationId xmlns:a16="http://schemas.microsoft.com/office/drawing/2014/main" id="{52E620DD-93AE-43B3-B8F6-08E2EED6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C62DC41-8881-4C17-8AFD-01EA1F65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8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A67"/>
                </a:solidFill>
                <a:latin typeface="Arial"/>
                <a:ea typeface="Arial"/>
                <a:cs typeface="Arial"/>
              </a:rPr>
              <a:t>个性化题目解析 · 多源 Context</a:t>
            </a:r>
            <a:endParaRPr sz="1050" b="1">
              <a:solidFill>
                <a:srgbClr val="008A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196DA8-B80F-4F51-9C3B-8E7F0993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先理解学生、班级和老师，再生成这一次讲解</a:t>
            </a:r>
            <a:endParaRPr sz="2550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84AD3AE-07CC-469B-BD46-9FD7F5DD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36C"/>
                </a:solidFill>
                <a:latin typeface="Arial"/>
                <a:ea typeface="Arial"/>
                <a:cs typeface="Arial"/>
              </a:rPr>
              <a:t>ClassIn 把学情、进度与师生画像装配为本次讲题 Context。</a:t>
            </a:r>
            <a:endParaRPr sz="1200">
              <a:solidFill>
                <a:srgbClr val="6673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ection">
            <a:extLst xmlns:a="http://schemas.openxmlformats.org/drawingml/2006/main">
              <a:ext uri="{FF2B5EF4-FFF2-40B4-BE49-F238E27FC236}">
                <a16:creationId xmlns:a16="http://schemas.microsoft.com/office/drawing/2014/main" id="{590C14F0-B1EA-41C4-A5D1-E7CFA431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239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08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A67"/>
                </a:solidFill>
                <a:latin typeface="Arial"/>
                <a:ea typeface="Arial"/>
                <a:cs typeface="Arial"/>
              </a:rPr>
              <a:t>因材施教的输入</a:t>
            </a:r>
            <a:endParaRPr sz="1050" b="1">
              <a:solidFill>
                <a:srgbClr val="008A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D07C4EF9-B737-45E0-B1BC-7EE6B0B8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当前问题与学生上下文</a:t>
            </a:r>
            <a:endParaRPr sz="1500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evidence-frame">
            <a:extLst xmlns:a="http://schemas.openxmlformats.org/drawingml/2006/main">
              <a:ext uri="{FF2B5EF4-FFF2-40B4-BE49-F238E27FC236}">
                <a16:creationId xmlns:a16="http://schemas.microsoft.com/office/drawing/2014/main" id="{378935A1-B958-4AC4-BF04-33F97272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685800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8964182b842ce"/>
          <a:srcRect xmlns:a="http://schemas.openxmlformats.org/drawingml/2006/main" l="0" t="1583" r="0" b="15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924050"/>
            <a:ext cx="68199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context-heading">
            <a:extLst xmlns:a="http://schemas.openxmlformats.org/drawingml/2006/main">
              <a:ext uri="{FF2B5EF4-FFF2-40B4-BE49-F238E27FC236}">
                <a16:creationId xmlns:a16="http://schemas.microsoft.com/office/drawing/2014/main" id="{AF266E4D-FF15-4D66-9576-7C37660A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62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65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54D"/>
                </a:solidFill>
                <a:latin typeface="Arial"/>
                <a:ea typeface="Arial"/>
                <a:cs typeface="Arial"/>
              </a:rPr>
              <a:t>个性化输入</a:t>
            </a:r>
            <a:endParaRPr sz="1500" b="1">
              <a:solidFill>
                <a:srgbClr val="0065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ontext-card-1">
            <a:extLst xmlns:a="http://schemas.openxmlformats.org/drawingml/2006/main">
              <a:ext uri="{FF2B5EF4-FFF2-40B4-BE49-F238E27FC236}">
                <a16:creationId xmlns:a16="http://schemas.microsoft.com/office/drawing/2014/main" id="{DA40C9BA-DD51-40B0-A3D9-955200ED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43100"/>
            <a:ext cx="4000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sp>
        <p:nvSpPr>
          <p:cNvPr id="11" name="context-accent-1">
            <a:extLst xmlns:a="http://schemas.openxmlformats.org/drawingml/2006/main">
              <a:ext uri="{FF2B5EF4-FFF2-40B4-BE49-F238E27FC236}">
                <a16:creationId xmlns:a16="http://schemas.microsoft.com/office/drawing/2014/main" id="{7AD7D5AF-9A4A-42C3-9BB0-467EB423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05025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ext-index-1">
            <a:extLst xmlns:a="http://schemas.openxmlformats.org/drawingml/2006/main">
              <a:ext uri="{FF2B5EF4-FFF2-40B4-BE49-F238E27FC236}">
                <a16:creationId xmlns:a16="http://schemas.microsoft.com/office/drawing/2014/main" id="{280E9DEF-F44F-45D8-A85C-C6C04D8D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050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5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54D"/>
                </a:solidFill>
                <a:latin typeface="Arial"/>
                <a:ea typeface="Arial"/>
                <a:cs typeface="Arial"/>
              </a:rPr>
              <a:t>1</a:t>
            </a:r>
            <a:endParaRPr sz="1050" b="1">
              <a:solidFill>
                <a:srgbClr val="0065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context-title-1">
            <a:extLst xmlns:a="http://schemas.openxmlformats.org/drawingml/2006/main">
              <a:ext uri="{FF2B5EF4-FFF2-40B4-BE49-F238E27FC236}">
                <a16:creationId xmlns:a16="http://schemas.microsoft.com/office/drawing/2014/main" id="{BACC9169-7992-45DE-9761-37FE89CA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孩子个性化学情</a:t>
            </a:r>
            <a:endParaRPr sz="1200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context-body-1">
            <a:extLst xmlns:a="http://schemas.openxmlformats.org/drawingml/2006/main">
              <a:ext uri="{FF2B5EF4-FFF2-40B4-BE49-F238E27FC236}">
                <a16:creationId xmlns:a16="http://schemas.microsoft.com/office/drawing/2014/main" id="{4C405D1C-B11D-48DB-8AF9-27507CB8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易错点、认知起点、偏好的理解方式</a:t>
            </a:r>
            <a:endParaRPr sz="975">
              <a:solidFill>
                <a:srgbClr val="6673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context-card-2">
            <a:extLst xmlns:a="http://schemas.openxmlformats.org/drawingml/2006/main">
              <a:ext uri="{FF2B5EF4-FFF2-40B4-BE49-F238E27FC236}">
                <a16:creationId xmlns:a16="http://schemas.microsoft.com/office/drawing/2014/main" id="{C9CBC8C2-CD73-46B9-836C-8B8EB4F0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4000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sp>
        <p:nvSpPr>
          <p:cNvPr id="16" name="context-accent-2">
            <a:extLst xmlns:a="http://schemas.openxmlformats.org/drawingml/2006/main">
              <a:ext uri="{FF2B5EF4-FFF2-40B4-BE49-F238E27FC236}">
                <a16:creationId xmlns:a16="http://schemas.microsoft.com/office/drawing/2014/main" id="{EFAC9597-8E84-49A8-9F78-7D7AB82C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62275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ntext-index-2">
            <a:extLst xmlns:a="http://schemas.openxmlformats.org/drawingml/2006/main">
              <a:ext uri="{FF2B5EF4-FFF2-40B4-BE49-F238E27FC236}">
                <a16:creationId xmlns:a16="http://schemas.microsoft.com/office/drawing/2014/main" id="{BAFB08DD-0953-424D-A698-CEF38F5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622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5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54D"/>
                </a:solidFill>
                <a:latin typeface="Arial"/>
                <a:ea typeface="Arial"/>
                <a:cs typeface="Arial"/>
              </a:rPr>
              <a:t>2</a:t>
            </a:r>
            <a:endParaRPr sz="1050" b="1">
              <a:solidFill>
                <a:srgbClr val="0065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ontext-title-2">
            <a:extLst xmlns:a="http://schemas.openxmlformats.org/drawingml/2006/main">
              <a:ext uri="{FF2B5EF4-FFF2-40B4-BE49-F238E27FC236}">
                <a16:creationId xmlns:a16="http://schemas.microsoft.com/office/drawing/2014/main" id="{95FB829A-D214-4F0F-8D90-FB261C86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班级信息与学习进度</a:t>
            </a:r>
            <a:endParaRPr sz="1200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ontext-body-2">
            <a:extLst xmlns:a="http://schemas.openxmlformats.org/drawingml/2006/main">
              <a:ext uri="{FF2B5EF4-FFF2-40B4-BE49-F238E27FC236}">
                <a16:creationId xmlns:a16="http://schemas.microsoft.com/office/drawing/2014/main" id="{E993401B-2ABD-43CE-85BD-A00E0079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高二物理 3 班 · 动量单元 · 作业第 5 题</a:t>
            </a:r>
            <a:endParaRPr sz="975">
              <a:solidFill>
                <a:srgbClr val="6673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context-card-3">
            <a:extLst xmlns:a="http://schemas.openxmlformats.org/drawingml/2006/main">
              <a:ext uri="{FF2B5EF4-FFF2-40B4-BE49-F238E27FC236}">
                <a16:creationId xmlns:a16="http://schemas.microsoft.com/office/drawing/2014/main" id="{8CEA736B-AE0B-4814-B4A2-FA07E2A0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57600"/>
            <a:ext cx="4000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sp>
        <p:nvSpPr>
          <p:cNvPr id="21" name="context-accent-3">
            <a:extLst xmlns:a="http://schemas.openxmlformats.org/drawingml/2006/main">
              <a:ext uri="{FF2B5EF4-FFF2-40B4-BE49-F238E27FC236}">
                <a16:creationId xmlns:a16="http://schemas.microsoft.com/office/drawing/2014/main" id="{7E18A966-9DCF-44FE-91AC-A436AFCE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ntext-index-3">
            <a:extLst xmlns:a="http://schemas.openxmlformats.org/drawingml/2006/main">
              <a:ext uri="{FF2B5EF4-FFF2-40B4-BE49-F238E27FC236}">
                <a16:creationId xmlns:a16="http://schemas.microsoft.com/office/drawing/2014/main" id="{A9E2DF7F-3E87-4D33-BA73-99E9F898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5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54D"/>
                </a:solidFill>
                <a:latin typeface="Arial"/>
                <a:ea typeface="Arial"/>
                <a:cs typeface="Arial"/>
              </a:rPr>
              <a:t>3</a:t>
            </a:r>
            <a:endParaRPr sz="1050" b="1">
              <a:solidFill>
                <a:srgbClr val="0065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context-title-3">
            <a:extLst xmlns:a="http://schemas.openxmlformats.org/drawingml/2006/main">
              <a:ext uri="{FF2B5EF4-FFF2-40B4-BE49-F238E27FC236}">
                <a16:creationId xmlns:a16="http://schemas.microsoft.com/office/drawing/2014/main" id="{DE853F13-5696-448B-BE36-B8F0910E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52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老师个人讲课风格</a:t>
            </a:r>
            <a:endParaRPr sz="1200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ontext-body-3">
            <a:extLst xmlns:a="http://schemas.openxmlformats.org/drawingml/2006/main">
              <a:ext uri="{FF2B5EF4-FFF2-40B4-BE49-F238E27FC236}">
                <a16:creationId xmlns:a16="http://schemas.microsoft.com/office/drawing/2014/main" id="{0F675A61-EDB7-4965-8C01-7E91F859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先明确对象与正方向，再列式、计算和验算</a:t>
            </a:r>
            <a:endParaRPr sz="975">
              <a:solidFill>
                <a:srgbClr val="6673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context-card-4">
            <a:extLst xmlns:a="http://schemas.openxmlformats.org/drawingml/2006/main">
              <a:ext uri="{FF2B5EF4-FFF2-40B4-BE49-F238E27FC236}">
                <a16:creationId xmlns:a16="http://schemas.microsoft.com/office/drawing/2014/main" id="{7626BD0E-4304-4B0A-94E7-AFEC7241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14850"/>
            <a:ext cx="4000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sp>
        <p:nvSpPr>
          <p:cNvPr id="26" name="context-accent-4">
            <a:extLst xmlns:a="http://schemas.openxmlformats.org/drawingml/2006/main">
              <a:ext uri="{FF2B5EF4-FFF2-40B4-BE49-F238E27FC236}">
                <a16:creationId xmlns:a16="http://schemas.microsoft.com/office/drawing/2014/main" id="{637DD326-386F-4484-B52F-3CAA4FA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76775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B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ntext-index-4">
            <a:extLst xmlns:a="http://schemas.openxmlformats.org/drawingml/2006/main">
              <a:ext uri="{FF2B5EF4-FFF2-40B4-BE49-F238E27FC236}">
                <a16:creationId xmlns:a16="http://schemas.microsoft.com/office/drawing/2014/main" id="{C24FFE63-5433-4901-9C92-F395EF5C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767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0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context-title-4">
            <a:extLst xmlns:a="http://schemas.openxmlformats.org/drawingml/2006/main">
              <a:ext uri="{FF2B5EF4-FFF2-40B4-BE49-F238E27FC236}">
                <a16:creationId xmlns:a16="http://schemas.microsoft.com/office/drawing/2014/main" id="{490D04BF-6403-4601-8E6A-DB1288DB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老师 soul.md + 学生 soul.md</a:t>
            </a:r>
            <a:endParaRPr sz="1200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context-body-4">
            <a:extLst xmlns:a="http://schemas.openxmlformats.org/drawingml/2006/main">
              <a:ext uri="{FF2B5EF4-FFF2-40B4-BE49-F238E27FC236}">
                <a16:creationId xmlns:a16="http://schemas.microsoft.com/office/drawing/2014/main" id="{5218AAEB-2BD6-4389-BBF9-B50B5BA9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教师表达偏好与学生学习画像共同约束生成</a:t>
            </a:r>
            <a:endParaRPr sz="975">
              <a:solidFill>
                <a:srgbClr val="6673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akeaway">
            <a:extLst xmlns:a="http://schemas.openxmlformats.org/drawingml/2006/main">
              <a:ext uri="{FF2B5EF4-FFF2-40B4-BE49-F238E27FC236}">
                <a16:creationId xmlns:a16="http://schemas.microsoft.com/office/drawing/2014/main" id="{ACA5E7AB-C287-42B0-B6FF-A1F0834B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1087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sp>
        <p:nvSpPr>
          <p:cNvPr id="31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90A0CEEC-73DC-477A-9547-EF626ECD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AA6B293F-2375-4522-85F9-90698D9C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57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065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54D"/>
                </a:solidFill>
                <a:latin typeface="Arial"/>
                <a:ea typeface="Arial"/>
                <a:cs typeface="Arial"/>
              </a:rPr>
              <a:t>关键原则</a:t>
            </a:r>
            <a:endParaRPr sz="1200" b="1">
              <a:solidFill>
                <a:srgbClr val="0065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akeaway-copy">
            <a:extLst xmlns:a="http://schemas.openxmlformats.org/drawingml/2006/main">
              <a:ext uri="{FF2B5EF4-FFF2-40B4-BE49-F238E27FC236}">
                <a16:creationId xmlns:a16="http://schemas.microsoft.com/office/drawing/2014/main" id="{BD538C76-4CC3-4723-A663-594F9923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293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同一道题，换一个学生、班级进度或老师，讲解结构也会随之改变。</a:t>
            </a:r>
            <a:endParaRPr sz="1500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akeaway-detail">
            <a:extLst xmlns:a="http://schemas.openxmlformats.org/drawingml/2006/main">
              <a:ext uri="{FF2B5EF4-FFF2-40B4-BE49-F238E27FC236}">
                <a16:creationId xmlns:a16="http://schemas.microsoft.com/office/drawing/2014/main" id="{4692C5C2-3E6D-4FCF-BF64-EF1AA463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436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学生学情 + 班级与进度 + 教师风格 + 师生 soul.md → 个性化讲题 Context</a:t>
            </a:r>
            <a:endParaRPr sz="975">
              <a:solidFill>
                <a:srgbClr val="66736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7524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ule">
            <a:extLst xmlns:a="http://schemas.openxmlformats.org/drawingml/2006/main">
              <a:ext uri="{FF2B5EF4-FFF2-40B4-BE49-F238E27FC236}">
                <a16:creationId xmlns:a16="http://schemas.microsoft.com/office/drawing/2014/main" id="{06071293-A5C3-4EB4-8A3E-5B069881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31A31E2-23A1-43D9-A797-C21F797D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8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A67"/>
                </a:solidFill>
                <a:latin typeface="Arial"/>
                <a:ea typeface="Arial"/>
                <a:cs typeface="Arial"/>
              </a:rPr>
              <a:t>个性化题目解析 · 内容生成</a:t>
            </a:r>
            <a:endParaRPr sz="1050" b="1">
              <a:solidFill>
                <a:srgbClr val="008A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C79E33-7874-47DF-9BA7-77A6F386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不只给答案，而是匹配学生的理解路径</a:t>
            </a:r>
            <a:endParaRPr sz="2550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50E668D-D2FF-4096-A082-B555C5A0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36C"/>
                </a:solidFill>
                <a:latin typeface="Arial"/>
                <a:ea typeface="Arial"/>
                <a:cs typeface="Arial"/>
              </a:rPr>
              <a:t>TeachBuddy 将多源 Context 转化为适合当前学生、符合老师风格的分步讲解。</a:t>
            </a:r>
            <a:endParaRPr sz="1200">
              <a:solidFill>
                <a:srgbClr val="6673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ection">
            <a:extLst xmlns:a="http://schemas.openxmlformats.org/drawingml/2006/main">
              <a:ext uri="{FF2B5EF4-FFF2-40B4-BE49-F238E27FC236}">
                <a16:creationId xmlns:a16="http://schemas.microsoft.com/office/drawing/2014/main" id="{36506565-3194-420B-BCD6-CE8A720F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239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08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A67"/>
                </a:solidFill>
                <a:latin typeface="Arial"/>
                <a:ea typeface="Arial"/>
                <a:cs typeface="Arial"/>
              </a:rPr>
              <a:t>针对性讲解内容</a:t>
            </a:r>
            <a:endParaRPr sz="1050" b="1">
              <a:solidFill>
                <a:srgbClr val="008A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A1BE5385-69BE-4D18-9B36-99095E38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真实题目、分步讲解与自检支架</a:t>
            </a:r>
            <a:endParaRPr sz="1500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evidence-frame">
            <a:extLst xmlns:a="http://schemas.openxmlformats.org/drawingml/2006/main">
              <a:ext uri="{FF2B5EF4-FFF2-40B4-BE49-F238E27FC236}">
                <a16:creationId xmlns:a16="http://schemas.microsoft.com/office/drawing/2014/main" id="{872D050A-7405-489D-9911-95159ED7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769620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4fe5422994635"/>
          <a:srcRect xmlns:a="http://schemas.openxmlformats.org/drawingml/2006/main" l="0" t="6882" r="0" b="6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924050"/>
            <a:ext cx="76581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output-heading">
            <a:extLst xmlns:a="http://schemas.openxmlformats.org/drawingml/2006/main">
              <a:ext uri="{FF2B5EF4-FFF2-40B4-BE49-F238E27FC236}">
                <a16:creationId xmlns:a16="http://schemas.microsoft.com/office/drawing/2014/main" id="{27A4B104-922B-43F7-951B-82410F76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62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65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54D"/>
                </a:solidFill>
                <a:latin typeface="Arial"/>
                <a:ea typeface="Arial"/>
                <a:cs typeface="Arial"/>
              </a:rPr>
              <a:t>个性化如何体现</a:t>
            </a:r>
            <a:endParaRPr sz="1500" b="1">
              <a:solidFill>
                <a:srgbClr val="0065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output-card-1">
            <a:extLst xmlns:a="http://schemas.openxmlformats.org/drawingml/2006/main">
              <a:ext uri="{FF2B5EF4-FFF2-40B4-BE49-F238E27FC236}">
                <a16:creationId xmlns:a16="http://schemas.microsoft.com/office/drawing/2014/main" id="{A860B79C-C2BF-41D3-9B1F-7E3B4389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431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sp>
        <p:nvSpPr>
          <p:cNvPr id="11" name="output-title-1">
            <a:extLst xmlns:a="http://schemas.openxmlformats.org/drawingml/2006/main">
              <a:ext uri="{FF2B5EF4-FFF2-40B4-BE49-F238E27FC236}">
                <a16:creationId xmlns:a16="http://schemas.microsoft.com/office/drawing/2014/main" id="{CC7C631E-3B6D-410B-9B9F-008BDDD5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从孩子的具体困难切入</a:t>
            </a:r>
            <a:endParaRPr sz="1275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output-body-1">
            <a:extLst xmlns:a="http://schemas.openxmlformats.org/drawingml/2006/main">
              <a:ext uri="{FF2B5EF4-FFF2-40B4-BE49-F238E27FC236}">
                <a16:creationId xmlns:a16="http://schemas.microsoft.com/office/drawing/2014/main" id="{ADD5A7DB-6CE1-48BF-BC64-1709BA6C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36C"/>
                </a:solidFill>
                <a:latin typeface="Arial"/>
                <a:ea typeface="Arial"/>
                <a:cs typeface="Arial"/>
              </a:rPr>
              <a:t>围绕“碰后速度正负号总写反”，先建立方向意识。</a:t>
            </a:r>
            <a:endParaRPr sz="1050">
              <a:solidFill>
                <a:srgbClr val="6673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output-card-2">
            <a:extLst xmlns:a="http://schemas.openxmlformats.org/drawingml/2006/main">
              <a:ext uri="{FF2B5EF4-FFF2-40B4-BE49-F238E27FC236}">
                <a16:creationId xmlns:a16="http://schemas.microsoft.com/office/drawing/2014/main" id="{23C78A77-AC5E-4ED0-822A-5A2E4AE4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sp>
        <p:nvSpPr>
          <p:cNvPr id="14" name="output-title-2">
            <a:extLst xmlns:a="http://schemas.openxmlformats.org/drawingml/2006/main">
              <a:ext uri="{FF2B5EF4-FFF2-40B4-BE49-F238E27FC236}">
                <a16:creationId xmlns:a16="http://schemas.microsoft.com/office/drawing/2014/main" id="{8C0BD063-B67E-4B13-8DCB-DAFBA7E5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194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符合老师的讲解习惯</a:t>
            </a:r>
            <a:endParaRPr sz="1275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output-body-2">
            <a:extLst xmlns:a="http://schemas.openxmlformats.org/drawingml/2006/main">
              <a:ext uri="{FF2B5EF4-FFF2-40B4-BE49-F238E27FC236}">
                <a16:creationId xmlns:a16="http://schemas.microsoft.com/office/drawing/2014/main" id="{3BA2054D-BB45-4DD0-9CD9-04B1E7D6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36C"/>
                </a:solidFill>
                <a:latin typeface="Arial"/>
                <a:ea typeface="Arial"/>
                <a:cs typeface="Arial"/>
              </a:rPr>
              <a:t>研究对象 → 正方向 → 守恒方程 → 代入验算。</a:t>
            </a:r>
            <a:endParaRPr sz="1050">
              <a:solidFill>
                <a:srgbClr val="6673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output-card-3">
            <a:extLst xmlns:a="http://schemas.openxmlformats.org/drawingml/2006/main">
              <a:ext uri="{FF2B5EF4-FFF2-40B4-BE49-F238E27FC236}">
                <a16:creationId xmlns:a16="http://schemas.microsoft.com/office/drawing/2014/main" id="{D2DB4B86-327E-4E39-830C-99569F71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3143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sp>
        <p:nvSpPr>
          <p:cNvPr id="17" name="output-title-3">
            <a:extLst xmlns:a="http://schemas.openxmlformats.org/drawingml/2006/main">
              <a:ext uri="{FF2B5EF4-FFF2-40B4-BE49-F238E27FC236}">
                <a16:creationId xmlns:a16="http://schemas.microsoft.com/office/drawing/2014/main" id="{CA35C41D-3FF4-461C-8F56-9B1E67C8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434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为学生提供可学习的支架</a:t>
            </a:r>
            <a:endParaRPr sz="1275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output-body-3">
            <a:extLst xmlns:a="http://schemas.openxmlformats.org/drawingml/2006/main">
              <a:ext uri="{FF2B5EF4-FFF2-40B4-BE49-F238E27FC236}">
                <a16:creationId xmlns:a16="http://schemas.microsoft.com/office/drawing/2014/main" id="{FF8A01A1-FA29-4D39-BBFA-05AA25F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4820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36C"/>
                </a:solidFill>
                <a:latin typeface="Arial"/>
                <a:ea typeface="Arial"/>
                <a:cs typeface="Arial"/>
              </a:rPr>
              <a:t>每一步都有自检点；既呈现推导过程，也保留完整答案与验算。</a:t>
            </a:r>
            <a:endParaRPr sz="1050">
              <a:solidFill>
                <a:srgbClr val="6673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0481987A-13CB-4591-815B-AC96FE34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1087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sp>
        <p:nvSpPr>
          <p:cNvPr id="20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F390AB91-7471-4FF8-B4D8-2DB8541E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17E53C4D-F994-4EA8-AA49-FCA2AAB7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57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065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54D"/>
                </a:solidFill>
                <a:latin typeface="Arial"/>
                <a:ea typeface="Arial"/>
                <a:cs typeface="Arial"/>
              </a:rPr>
              <a:t>关键原则</a:t>
            </a:r>
            <a:endParaRPr sz="1200" b="1">
              <a:solidFill>
                <a:srgbClr val="0065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akeaway-copy">
            <a:extLst xmlns:a="http://schemas.openxmlformats.org/drawingml/2006/main">
              <a:ext uri="{FF2B5EF4-FFF2-40B4-BE49-F238E27FC236}">
                <a16:creationId xmlns:a16="http://schemas.microsoft.com/office/drawing/2014/main" id="{69FFD555-6A98-4ED2-BAE1-DA724FE7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293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1C"/>
                </a:solidFill>
                <a:latin typeface="Arial"/>
                <a:ea typeface="Arial"/>
                <a:cs typeface="Arial"/>
              </a:rPr>
              <a:t>AI 个性化生成的结果，是更适合这个孩子、更像这位老师的讲解资料。</a:t>
            </a:r>
            <a:endParaRPr sz="1500" b="1">
              <a:solidFill>
                <a:srgbClr val="17221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akeaway-detail">
            <a:extLst xmlns:a="http://schemas.openxmlformats.org/drawingml/2006/main">
              <a:ext uri="{FF2B5EF4-FFF2-40B4-BE49-F238E27FC236}">
                <a16:creationId xmlns:a16="http://schemas.microsoft.com/office/drawing/2014/main" id="{1FCA9841-9A47-4839-880E-C4A4AE7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436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理解起点匹配 + 教学表达匹配 + 分步支架匹配 → 因材施教的题目解析</a:t>
            </a:r>
            <a:endParaRPr sz="975">
              <a:solidFill>
                <a:srgbClr val="66736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8621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2026-08-25T13:28:22.5890000Z</dcterms:created>
  <dcterms:modified xsi:type="dcterms:W3CDTF">2026-08-25T13:28:22.5890000Z</dcterms:modified>
</coreProperties>
</file>