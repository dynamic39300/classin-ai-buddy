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top-accent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865A"/>
          </a:solidFill>
          <a:ln w="0">
            <a:noFill/>
            <a:prstDash val="solid"/>
          </a:ln>
        </p:spPr>
      </p:sp>
      <p:sp>
        <p:nvSpPr>
          <p:cNvPr id="2" name="eyebrow"/>
          <p:cNvSpPr>
            <a:spLocks noGrp="1"/>
          </p:cNvSpPr>
          <p:nvPr/>
        </p:nvSpPr>
        <p:spPr>
          <a:xfrm>
            <a:off x="552450" y="32385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0865A"/>
                </a:solidFill>
              </a:defRPr>
            </a:pPr>
            <a:r>
              <a:rPr sz="1200" b="1">
                <a:solidFill>
                  <a:srgbClr val="00865A"/>
                </a:solidFill>
              </a:rPr>
              <a:t>老师 × 学生私聊</a:t>
            </a:r>
            <a:endParaRPr sz="1200" b="1">
              <a:solidFill>
                <a:srgbClr val="00865A"/>
              </a:solidFill>
            </a:endParaRP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552450" y="5905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7211C"/>
                </a:solidFill>
              </a:defRPr>
            </a:pPr>
            <a:r>
              <a:rPr sz="3000" b="1">
                <a:solidFill>
                  <a:srgbClr val="17211C"/>
                </a:solidFill>
              </a:rPr>
              <a:t>TeachBuddy </a:t>
            </a:r>
            <a:r>
              <a:rPr lang="zh-CN" sz="3000" b="1">
                <a:solidFill>
                  <a:srgbClr val="17211C"/>
                </a:solidFill>
              </a:rPr>
              <a:t>结合学生学情，生成</a:t>
            </a:r>
            <a:r>
              <a:rPr sz="3000" b="1">
                <a:solidFill>
                  <a:srgbClr val="17211C"/>
                </a:solidFill>
              </a:rPr>
              <a:t>个性</a:t>
            </a:r>
            <a:r>
              <a:rPr lang="zh-CN" sz="3000" b="1">
                <a:solidFill>
                  <a:srgbClr val="17211C"/>
                </a:solidFill>
              </a:rPr>
              <a:t>化题目解析</a:t>
            </a:r>
            <a:r>
              <a:rPr lang="zh-CN" sz="3000" b="1">
                <a:solidFill>
                  <a:srgbClr val="17211C"/>
                </a:solidFill>
              </a:rPr>
              <a:t>内容</a:t>
            </a:r>
            <a:endParaRPr lang="zh-CN" sz="3000" b="1">
              <a:solidFill>
                <a:srgbClr val="17211C"/>
              </a:solidFill>
            </a:endParaRPr>
          </a:p>
        </p:txBody>
      </p:sp>
      <p:sp>
        <p:nvSpPr>
          <p:cNvPr id="4" name="subtitle"/>
          <p:cNvSpPr>
            <a:spLocks noGrp="1"/>
          </p:cNvSpPr>
          <p:nvPr/>
        </p:nvSpPr>
        <p:spPr>
          <a:xfrm>
            <a:off x="571500" y="1152525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5726B"/>
                </a:solidFill>
              </a:defRPr>
            </a:pPr>
            <a:r>
              <a:rPr sz="1350">
                <a:solidFill>
                  <a:srgbClr val="65726B"/>
                </a:solidFill>
              </a:rPr>
              <a:t>学生不必完整抄题；老师确认内容后，讲解才进入真实私聊。</a:t>
            </a:r>
            <a:endParaRPr sz="1350">
              <a:solidFill>
                <a:srgbClr val="65726B"/>
              </a:solidFill>
            </a:endParaRPr>
          </a:p>
        </p:txBody>
      </p:sp>
      <p:sp>
        <p:nvSpPr>
          <p:cNvPr id="5" name="section-label"/>
          <p:cNvSpPr>
            <a:spLocks noGrp="1"/>
          </p:cNvSpPr>
          <p:nvPr/>
        </p:nvSpPr>
        <p:spPr>
          <a:xfrm>
            <a:off x="9191625" y="11811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0865A"/>
                </a:solidFill>
              </a:defRPr>
            </a:pPr>
            <a:r>
              <a:rPr sz="1200" b="1">
                <a:solidFill>
                  <a:srgbClr val="00865A"/>
                </a:solidFill>
              </a:rPr>
              <a:t>从提问到可打开讲解</a:t>
            </a:r>
            <a:endParaRPr sz="1200" b="1">
              <a:solidFill>
                <a:srgbClr val="00865A"/>
              </a:solidFill>
            </a:endParaRPr>
          </a:p>
        </p:txBody>
      </p:sp>
      <p:sp>
        <p:nvSpPr>
          <p:cNvPr id="6" name="sequence-line"/>
          <p:cNvSpPr>
            <a:spLocks noGrp="1"/>
          </p:cNvSpPr>
          <p:nvPr/>
        </p:nvSpPr>
        <p:spPr>
          <a:xfrm>
            <a:off x="704850" y="1657350"/>
            <a:ext cx="10620375" cy="19050"/>
          </a:xfrm>
          <a:prstGeom prst="rect">
            <a:avLst/>
          </a:prstGeom>
          <a:solidFill>
            <a:srgbClr val="D9E4DE"/>
          </a:solidFill>
          <a:ln w="0">
            <a:noFill/>
            <a:prstDash val="solid"/>
          </a:ln>
        </p:spPr>
      </p:sp>
      <p:sp>
        <p:nvSpPr>
          <p:cNvPr id="7" name="stage-1-number"/>
          <p:cNvSpPr>
            <a:spLocks noGrp="1"/>
          </p:cNvSpPr>
          <p:nvPr/>
        </p:nvSpPr>
        <p:spPr>
          <a:xfrm>
            <a:off x="552450" y="1504950"/>
            <a:ext cx="342900" cy="342900"/>
          </a:xfrm>
          <a:prstGeom prst="ellipse">
            <a:avLst/>
          </a:prstGeom>
          <a:solidFill>
            <a:srgbClr val="00865A"/>
          </a:solidFill>
          <a:ln w="285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8" name="stage-1-title"/>
          <p:cNvSpPr>
            <a:spLocks noGrp="1"/>
          </p:cNvSpPr>
          <p:nvPr/>
        </p:nvSpPr>
        <p:spPr>
          <a:xfrm>
            <a:off x="1009650" y="1514475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11C"/>
                </a:solidFill>
              </a:defRPr>
            </a:pPr>
            <a:r>
              <a:rPr sz="1575" b="1">
                <a:solidFill>
                  <a:srgbClr val="17211C"/>
                </a:solidFill>
              </a:rPr>
              <a:t>识别问题与场景</a:t>
            </a:r>
            <a:endParaRPr sz="1575" b="1">
              <a:solidFill>
                <a:srgbClr val="17211C"/>
              </a:solidFill>
            </a:endParaRPr>
          </a:p>
        </p:txBody>
      </p:sp>
      <p:sp>
        <p:nvSpPr>
          <p:cNvPr id="9" name="stage-1-frame"/>
          <p:cNvSpPr>
            <a:spLocks noGrp="1"/>
          </p:cNvSpPr>
          <p:nvPr/>
        </p:nvSpPr>
        <p:spPr>
          <a:xfrm>
            <a:off x="533400" y="1933575"/>
            <a:ext cx="3571875" cy="202882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9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954113"/>
            <a:ext cx="3533775" cy="1987748"/>
          </a:xfrm>
          <a:prstGeom prst="roundRect">
            <a:avLst>
              <a:gd name="adj" fmla="val 3828"/>
            </a:avLst>
          </a:prstGeom>
        </p:spPr>
      </p:pic>
      <p:sp>
        <p:nvSpPr>
          <p:cNvPr id="11" name="stage-1-body"/>
          <p:cNvSpPr>
            <a:spLocks noGrp="1"/>
          </p:cNvSpPr>
          <p:nvPr/>
        </p:nvSpPr>
        <p:spPr>
          <a:xfrm>
            <a:off x="552450" y="4095750"/>
            <a:ext cx="353377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学生只需说明作业、题号和卡点，TeachBuddy 自动带入当前学生私聊 Context。</a:t>
            </a:r>
            <a:endParaRPr sz="1200">
              <a:solidFill>
                <a:srgbClr val="65726B"/>
              </a:solidFill>
            </a:endParaRPr>
          </a:p>
        </p:txBody>
      </p:sp>
      <p:sp>
        <p:nvSpPr>
          <p:cNvPr id="12" name="stage-2-number"/>
          <p:cNvSpPr>
            <a:spLocks noGrp="1"/>
          </p:cNvSpPr>
          <p:nvPr/>
        </p:nvSpPr>
        <p:spPr>
          <a:xfrm>
            <a:off x="4324350" y="1504950"/>
            <a:ext cx="342900" cy="342900"/>
          </a:xfrm>
          <a:prstGeom prst="ellipse">
            <a:avLst/>
          </a:prstGeom>
          <a:solidFill>
            <a:srgbClr val="F05A47"/>
          </a:solidFill>
          <a:ln w="285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3" name="stage-2-title"/>
          <p:cNvSpPr>
            <a:spLocks noGrp="1"/>
          </p:cNvSpPr>
          <p:nvPr/>
        </p:nvSpPr>
        <p:spPr>
          <a:xfrm>
            <a:off x="4781550" y="1514475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11C"/>
                </a:solidFill>
              </a:defRPr>
            </a:pPr>
            <a:r>
              <a:rPr sz="1575" b="1">
                <a:solidFill>
                  <a:srgbClr val="17211C"/>
                </a:solidFill>
              </a:rPr>
              <a:t>生成并由老师审核</a:t>
            </a:r>
            <a:endParaRPr sz="1575" b="1">
              <a:solidFill>
                <a:srgbClr val="17211C"/>
              </a:solidFill>
            </a:endParaRPr>
          </a:p>
        </p:txBody>
      </p:sp>
      <p:sp>
        <p:nvSpPr>
          <p:cNvPr id="14" name="stage-2-frame"/>
          <p:cNvSpPr>
            <a:spLocks noGrp="1"/>
          </p:cNvSpPr>
          <p:nvPr/>
        </p:nvSpPr>
        <p:spPr>
          <a:xfrm>
            <a:off x="4305300" y="1933575"/>
            <a:ext cx="3571875" cy="202882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9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350" y="1954113"/>
            <a:ext cx="3533775" cy="1987748"/>
          </a:xfrm>
          <a:prstGeom prst="roundRect">
            <a:avLst>
              <a:gd name="adj" fmla="val 3828"/>
            </a:avLst>
          </a:prstGeom>
        </p:spPr>
      </p:pic>
      <p:sp>
        <p:nvSpPr>
          <p:cNvPr id="16" name="stage-2-body"/>
          <p:cNvSpPr>
            <a:spLocks noGrp="1"/>
          </p:cNvSpPr>
          <p:nvPr/>
        </p:nvSpPr>
        <p:spPr>
          <a:xfrm>
            <a:off x="4324350" y="4095750"/>
            <a:ext cx="353377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生成真实题目、分步推导和最终话术；老师可以预览、编辑并确认。</a:t>
            </a:r>
            <a:endParaRPr sz="1200">
              <a:solidFill>
                <a:srgbClr val="65726B"/>
              </a:solidFill>
            </a:endParaRPr>
          </a:p>
        </p:txBody>
      </p:sp>
      <p:sp>
        <p:nvSpPr>
          <p:cNvPr id="17" name="stage-3-number"/>
          <p:cNvSpPr>
            <a:spLocks noGrp="1"/>
          </p:cNvSpPr>
          <p:nvPr/>
        </p:nvSpPr>
        <p:spPr>
          <a:xfrm>
            <a:off x="8096250" y="1504950"/>
            <a:ext cx="342900" cy="342900"/>
          </a:xfrm>
          <a:prstGeom prst="ellipse">
            <a:avLst/>
          </a:prstGeom>
          <a:solidFill>
            <a:srgbClr val="00865A"/>
          </a:solidFill>
          <a:ln w="28575">
            <a:solidFill>
              <a:srgbClr val="FFFFFF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8" name="stage-3-title"/>
          <p:cNvSpPr>
            <a:spLocks noGrp="1"/>
          </p:cNvSpPr>
          <p:nvPr/>
        </p:nvSpPr>
        <p:spPr>
          <a:xfrm>
            <a:off x="8553450" y="1514475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211C"/>
                </a:solidFill>
              </a:defRPr>
            </a:pPr>
            <a:r>
              <a:rPr sz="1575" b="1">
                <a:solidFill>
                  <a:srgbClr val="17211C"/>
                </a:solidFill>
              </a:rPr>
              <a:t>发送并返回结果</a:t>
            </a:r>
            <a:endParaRPr sz="1575" b="1">
              <a:solidFill>
                <a:srgbClr val="17211C"/>
              </a:solidFill>
            </a:endParaRPr>
          </a:p>
        </p:txBody>
      </p:sp>
      <p:sp>
        <p:nvSpPr>
          <p:cNvPr id="19" name="stage-3-frame"/>
          <p:cNvSpPr>
            <a:spLocks noGrp="1"/>
          </p:cNvSpPr>
          <p:nvPr/>
        </p:nvSpPr>
        <p:spPr>
          <a:xfrm>
            <a:off x="8077200" y="1933575"/>
            <a:ext cx="3571875" cy="202882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9E4D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954113"/>
            <a:ext cx="3533775" cy="1987748"/>
          </a:xfrm>
          <a:prstGeom prst="roundRect">
            <a:avLst>
              <a:gd name="adj" fmla="val 3828"/>
            </a:avLst>
          </a:prstGeom>
        </p:spPr>
      </p:pic>
      <p:sp>
        <p:nvSpPr>
          <p:cNvPr id="21" name="stage-3-body"/>
          <p:cNvSpPr>
            <a:spLocks noGrp="1"/>
          </p:cNvSpPr>
          <p:nvPr/>
        </p:nvSpPr>
        <p:spPr>
          <a:xfrm>
            <a:off x="8096250" y="4095750"/>
            <a:ext cx="353377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最终话术和链接写入学生私聊；学生打开查看，发送结果全程可追溯。</a:t>
            </a:r>
            <a:endParaRPr sz="1200">
              <a:solidFill>
                <a:srgbClr val="65726B"/>
              </a:solidFill>
            </a:endParaRPr>
          </a:p>
        </p:txBody>
      </p:sp>
      <p:sp>
        <p:nvSpPr>
          <p:cNvPr id="22" name="takeaway-band"/>
          <p:cNvSpPr>
            <a:spLocks noGrp="1"/>
          </p:cNvSpPr>
          <p:nvPr/>
        </p:nvSpPr>
        <p:spPr>
          <a:xfrm>
            <a:off x="552450" y="5334000"/>
            <a:ext cx="11087100" cy="1000125"/>
          </a:xfrm>
          <a:prstGeom prst="roundRect">
            <a:avLst>
              <a:gd name="adj" fmla="val 15238"/>
            </a:avLst>
          </a:prstGeom>
          <a:solidFill>
            <a:srgbClr val="EAF6F0"/>
          </a:solidFill>
          <a:ln w="9525">
            <a:solidFill>
              <a:srgbClr val="B7DCCA"/>
            </a:solidFill>
            <a:prstDash val="solid"/>
          </a:ln>
        </p:spPr>
      </p:sp>
      <p:sp>
        <p:nvSpPr>
          <p:cNvPr id="23" name="takeaway-accent"/>
          <p:cNvSpPr>
            <a:spLocks noGrp="1"/>
          </p:cNvSpPr>
          <p:nvPr/>
        </p:nvSpPr>
        <p:spPr>
          <a:xfrm>
            <a:off x="552450" y="5334000"/>
            <a:ext cx="76200" cy="1000125"/>
          </a:xfrm>
          <a:prstGeom prst="rect">
            <a:avLst/>
          </a:prstGeom>
          <a:solidFill>
            <a:srgbClr val="00865A"/>
          </a:solidFill>
          <a:ln w="0">
            <a:noFill/>
            <a:prstDash val="solid"/>
          </a:ln>
        </p:spPr>
      </p:sp>
      <p:sp>
        <p:nvSpPr>
          <p:cNvPr id="24" name="takeaway-title"/>
          <p:cNvSpPr>
            <a:spLocks noGrp="1"/>
          </p:cNvSpPr>
          <p:nvPr/>
        </p:nvSpPr>
        <p:spPr>
          <a:xfrm>
            <a:off x="838200" y="5553075"/>
            <a:ext cx="1238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E503B"/>
                </a:solidFill>
              </a:defRPr>
            </a:pPr>
            <a:r>
              <a:rPr sz="1500" b="1">
                <a:solidFill>
                  <a:srgbClr val="0E503B"/>
                </a:solidFill>
              </a:rPr>
              <a:t>关键原则</a:t>
            </a:r>
            <a:endParaRPr sz="1500" b="1">
              <a:solidFill>
                <a:srgbClr val="0E503B"/>
              </a:solidFill>
            </a:endParaRPr>
          </a:p>
        </p:txBody>
      </p:sp>
      <p:sp>
        <p:nvSpPr>
          <p:cNvPr id="25" name="takeaway-copy"/>
          <p:cNvSpPr>
            <a:spLocks noGrp="1"/>
          </p:cNvSpPr>
          <p:nvPr/>
        </p:nvSpPr>
        <p:spPr>
          <a:xfrm>
            <a:off x="2019300" y="5514975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7211C"/>
                </a:solidFill>
              </a:defRPr>
            </a:pPr>
            <a:r>
              <a:rPr lang="zh-CN">
                <a:sym typeface="+mn-ea"/>
              </a:rPr>
              <a:t>结合学生个人学情，</a:t>
            </a:r>
            <a:r>
              <a:rPr sz="1725" b="1">
                <a:solidFill>
                  <a:srgbClr val="17211C"/>
                </a:solidFill>
              </a:rPr>
              <a:t>AI 负责生成</a:t>
            </a:r>
            <a:r>
              <a:rPr lang="zh-CN" sz="1725" b="1">
                <a:solidFill>
                  <a:srgbClr val="17211C"/>
                </a:solidFill>
              </a:rPr>
              <a:t>题目</a:t>
            </a:r>
            <a:r>
              <a:rPr lang="zh-CN" sz="1725" b="1">
                <a:solidFill>
                  <a:srgbClr val="17211C"/>
                </a:solidFill>
              </a:rPr>
              <a:t>讲解，</a:t>
            </a:r>
            <a:r>
              <a:rPr sz="1725" b="1">
                <a:solidFill>
                  <a:srgbClr val="17211C"/>
                </a:solidFill>
              </a:rPr>
              <a:t>只有</a:t>
            </a:r>
            <a:r>
              <a:rPr lang="zh-CN" sz="1725" b="1">
                <a:solidFill>
                  <a:srgbClr val="17211C"/>
                </a:solidFill>
              </a:rPr>
              <a:t>当</a:t>
            </a:r>
            <a:r>
              <a:rPr sz="1725" b="1">
                <a:solidFill>
                  <a:srgbClr val="17211C"/>
                </a:solidFill>
              </a:rPr>
              <a:t>教师确认后，内容才进入真实沟通场景。</a:t>
            </a:r>
            <a:endParaRPr sz="1725" b="1">
              <a:solidFill>
                <a:srgbClr val="17211C"/>
              </a:solidFill>
            </a:endParaRPr>
          </a:p>
        </p:txBody>
      </p:sp>
      <p:sp>
        <p:nvSpPr>
          <p:cNvPr id="26" name="takeaway-detail"/>
          <p:cNvSpPr>
            <a:spLocks noGrp="1"/>
          </p:cNvSpPr>
          <p:nvPr/>
        </p:nvSpPr>
        <p:spPr>
          <a:xfrm>
            <a:off x="2019300" y="5915025"/>
            <a:ext cx="857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5726B"/>
                </a:solidFill>
              </a:defRPr>
            </a:pPr>
            <a:r>
              <a:rPr sz="1200">
                <a:solidFill>
                  <a:srgbClr val="65726B"/>
                </a:solidFill>
              </a:rPr>
              <a:t>同一套讲解 Artifact 同时支持最终话术、链接预览、逐步编辑与发送回执。</a:t>
            </a:r>
            <a:endParaRPr sz="1200">
              <a:solidFill>
                <a:srgbClr val="65726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WPS 演示</Application>
  <PresentationFormat>Converted Presentation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方正雅意黑 GB18030L2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warrior_xinlei</cp:lastModifiedBy>
  <cp:revision>6</cp:revision>
  <dcterms:created xsi:type="dcterms:W3CDTF">2026-08-25T12:25:33Z</dcterms:created>
  <dcterms:modified xsi:type="dcterms:W3CDTF">2026-08-25T12:25:33Z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836A63B37A9B322071888D6A7A290943_42</vt:lpwstr>
  </property>
</Properties>
</file>