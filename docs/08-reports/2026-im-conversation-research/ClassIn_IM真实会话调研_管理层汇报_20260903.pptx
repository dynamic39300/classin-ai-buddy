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开场不要先讲技术方法。先抛出问题：真实的教学 IM 里，人们究竟在完成什么？本报告不是功能方案，而是从真实沟通现场建立产品判断。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四个结论依次讲：覆盖面、多主题、角色差异、产品转化。最后用一句话收口，建立后续全场的主线。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两三句话讲完：样本来自 81.97 万消息，按群聊与 1v1 比例抽取 1000 个完整窗口；模型按上下文识别多个主题，并经过人工校准。强调不是关键词统计。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这页是整体场景地图。强调同一会话不只落在一个盒子里，后续产品需要理解跨层关系。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不要把柱状图讲成优先级。它只说明出现的广度。高频不等于痛点强，也不等于应该做 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这页纠正一个常见误解：会话不是单一意图。后续 Agent 不能只给会话一个总分类，而要识别当前正在推进哪个事项。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先解释两组分母不同。群聊以师生班级群为主；1v1 以学生—学生为主。角色拆分是后续案例理解的基础。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强调这不是关键词“改课”的命中，而是一段完整协商。Agent 价值不是生成一句话，而是理解时间约束、查正式课表、提出方案并保留确认。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作业案例最能说明“基础 IM + 业务对象 + AI”必须协作。讲清楚：模型不能只凭“收到”就把作业标成完成。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这页把“教师内部聊天”重新解释为运营流程。提醒：44 个窗口可观察主要方向，但不用于精确估计所有机构发生率。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这页不要把学生娱乐价值化或道德化。核心是：学习和生活共存，社交关系本身构成产品黏性与安全治理需求。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这页帮助产品专家理解：分类不能直接等于功能。必须把 Topic 与角色、责任、当前目标组合起来。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这是全场最重要的产品判断。逐一举例，强调 AI 不是事实源，也不是自动执行者。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从底层 IM 到上层治理讲。突出 Agent 的位置：理解和生成，但正式事实、权限和执行必须回到 ClassIn 业务对象。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这页体现我们没有照搬研究者笔记。明确指出数据支持强弱。不要把左上角叫“立项清单”，它只是下一阶段优先研究池。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这一页管理风险预期。学生情绪和教师评价很有价值，但不能无条件沉淀成永久画像。解释 Context Claim 与 ContextSnapshot 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结束时回到研究目标：我们已经知道人们聊什么，下一步要判断哪些摩擦值得解决、由哪一层承接。强调候选场景池不是已批准路线图。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SSIN_RESEARCH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8C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CLASSIN · IM RESEARCH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133856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人们在 ClassIn IM 里，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究竟在聊什么？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30936" y="2761488"/>
            <a:ext cx="6080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DCE9E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 1000 个真实会话窗口出发，理解教学、运营与关系现场，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DCE9E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以及 IM 与 AI Agent 真正值得介入的位置</a:t>
            </a:r>
            <a:endParaRPr lang="en-US" sz="1520" dirty="0"/>
          </a:p>
        </p:txBody>
      </p:sp>
      <p:sp>
        <p:nvSpPr>
          <p:cNvPr id="5" name="Shape 3"/>
          <p:cNvSpPr/>
          <p:nvPr/>
        </p:nvSpPr>
        <p:spPr>
          <a:xfrm>
            <a:off x="7406640" y="1078992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1612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7543800" y="135331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今晚能调到 7 点半吗？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046720" y="2066544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DCEFEA"/>
          </a:solidFill>
          <a:ln w="10160">
            <a:solidFill>
              <a:srgbClr val="3C9B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21488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3C9B8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8183880" y="234086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第五题我改完了，再帮我看看。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086600" y="3118104"/>
            <a:ext cx="34015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3200400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教学管理者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7223760" y="3392424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课时已核对，下一步提交财务。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818120" y="4187952"/>
            <a:ext cx="3346704" cy="822960"/>
          </a:xfrm>
          <a:prstGeom prst="roundRect">
            <a:avLst>
              <a:gd name="adj" fmla="val 8889"/>
            </a:avLst>
          </a:prstGeom>
          <a:solidFill>
            <a:srgbClr val="DCEFEA"/>
          </a:solidFill>
          <a:ln w="10160">
            <a:solidFill>
              <a:srgbClr val="7A62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4270248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7955280" y="4462272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给我一个作文开头的启发就好。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12648" y="5029200"/>
            <a:ext cx="2057400" cy="274320"/>
          </a:xfrm>
          <a:prstGeom prst="roundRect">
            <a:avLst>
              <a:gd name="adj" fmla="val 26667"/>
            </a:avLst>
          </a:prstGeom>
          <a:solidFill>
            <a:srgbClr val="254B57"/>
          </a:solidFill>
          <a:ln w="10160">
            <a:solidFill>
              <a:srgbClr val="254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5033772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CE9E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固定 1000 个会话窗口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761488" y="502920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254B57"/>
          </a:solidFill>
          <a:ln w="10160">
            <a:solidFill>
              <a:srgbClr val="254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61488" y="5033772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CE9E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100,000 条消息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462272" y="5029200"/>
            <a:ext cx="2057400" cy="274320"/>
          </a:xfrm>
          <a:prstGeom prst="roundRect">
            <a:avLst>
              <a:gd name="adj" fmla="val 26667"/>
            </a:avLst>
          </a:prstGeom>
          <a:solidFill>
            <a:srgbClr val="254B57"/>
          </a:solidFill>
          <a:ln w="10160">
            <a:solidFill>
              <a:srgbClr val="254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5033772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CE9E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面向管理层与产品专家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21792" y="6108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9FB6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 · 管理层汇报版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6492240" y="610819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6B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研究边界：脱敏固定样本，结论用于理解主要结构，不直接外推全平台发生率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先说结论：IM 已经是教学服务发生的现场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 结论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7" name="Text 5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48640" y="1481328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81328"/>
            <a:ext cx="64008" cy="1965960"/>
          </a:xfrm>
          <a:prstGeom prst="rect">
            <a:avLst/>
          </a:prstGeom>
          <a:solidFill>
            <a:srgbClr val="147A72"/>
          </a:solidFill>
          <a:ln w="12700">
            <a:solidFill>
              <a:srgbClr val="147A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636776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49808" y="2066544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课程运营覆盖最广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749808" y="2377440"/>
            <a:ext cx="24414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但学习、技术、社交和娱乐同样稳定存在，IM 远不只是通知工具。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3493008" y="1481328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93008" y="1481328"/>
            <a:ext cx="64008" cy="1965960"/>
          </a:xfrm>
          <a:prstGeom prst="rect">
            <a:avLst/>
          </a:prstGeom>
          <a:solidFill>
            <a:srgbClr val="426E9B"/>
          </a:solidFill>
          <a:ln w="12700">
            <a:solidFill>
              <a:srgbClr val="426E9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4176" y="1636776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26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851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3694176" y="2066544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会话同时包含多个主题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3694176" y="2377440"/>
            <a:ext cx="24414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平均每个窗口 3.18 个 Topic；“一个会话 = 一个任务”并不符合真实现场。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6437376" y="1481328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7376" y="1481328"/>
            <a:ext cx="64008" cy="1965960"/>
          </a:xfrm>
          <a:prstGeom prst="rect">
            <a:avLst/>
          </a:prstGeom>
          <a:solidFill>
            <a:srgbClr val="E58B44"/>
          </a:solidFill>
          <a:ln w="12700">
            <a:solidFill>
              <a:srgbClr val="E58B4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1636776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58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6638544" y="2066544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决定同一主题的真实含义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6638544" y="2377440"/>
            <a:ext cx="24414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教师—学生的作业是反馈闭环；学生—学生更像同伴互助；家长侧则是监督与计划。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9381744" y="1481328"/>
            <a:ext cx="2267712" cy="1965960"/>
          </a:xfrm>
          <a:prstGeom prst="roundRect">
            <a:avLst>
              <a:gd name="adj" fmla="val 3721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81744" y="1481328"/>
            <a:ext cx="64008" cy="1965960"/>
          </a:xfrm>
          <a:prstGeom prst="rect">
            <a:avLst/>
          </a:prstGeom>
          <a:solidFill>
            <a:srgbClr val="7A62A6"/>
          </a:solidFill>
          <a:ln w="12700">
            <a:solidFill>
              <a:srgbClr val="7A62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2912" y="1636776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7A6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9582912" y="2066544"/>
            <a:ext cx="1947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比“多一个 AI 入口”更重要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9582912" y="2377440"/>
            <a:ext cx="19476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机会在于把聊天中的意图、约束和判断，转成可执行、可追踪的业务结果。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548640" y="3767328"/>
            <a:ext cx="11100816" cy="1691640"/>
          </a:xfrm>
          <a:prstGeom prst="roundRect">
            <a:avLst>
              <a:gd name="adj" fmla="val 4324"/>
            </a:avLst>
          </a:prstGeom>
          <a:solidFill>
            <a:srgbClr val="0B2D3B"/>
          </a:solidFill>
          <a:ln w="10160">
            <a:solidFill>
              <a:srgbClr val="0B2D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0416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FD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一句话判断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57400" y="3977640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不要只让 AI 帮用户“说话”——</a:t>
            </a:r>
            <a:endParaRPr lang="en-US" sz="2150" dirty="0"/>
          </a:p>
          <a:p>
            <a:pPr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要让聊天成为课程、作业、反馈与服务真正发生的入口。</a:t>
            </a:r>
            <a:endParaRPr lang="en-US" sz="2150" dirty="0"/>
          </a:p>
        </p:txBody>
      </p:sp>
      <p:sp>
        <p:nvSpPr>
          <p:cNvPr id="31" name="Text 29"/>
          <p:cNvSpPr/>
          <p:nvPr/>
        </p:nvSpPr>
        <p:spPr>
          <a:xfrm>
            <a:off x="2075688" y="49011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8DB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这也是 IM 基础能力、业务对象和 Agent 能力需要共同设计的原因。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IN BRIEF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我们如何确保：看到的是会话，而不是关键词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方法只保留管理层需要理解的三个事实。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  方法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85800" y="1554480"/>
            <a:ext cx="2148840" cy="1024128"/>
          </a:xfrm>
          <a:prstGeom prst="roundRect">
            <a:avLst>
              <a:gd name="adj" fmla="val 7143"/>
            </a:avLst>
          </a:prstGeom>
          <a:solidFill>
            <a:srgbClr val="FFFDF8"/>
          </a:solidFill>
          <a:ln w="10160">
            <a:solidFill>
              <a:srgbClr val="D6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190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819,700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213969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 月脱敏消息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16936" y="2057400"/>
            <a:ext cx="502920" cy="0"/>
          </a:xfrm>
          <a:prstGeom prst="line">
            <a:avLst/>
          </a:prstGeom>
          <a:noFill/>
          <a:ln w="20320">
            <a:solidFill>
              <a:srgbClr val="3C9B8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38728" y="1554480"/>
            <a:ext cx="2148840" cy="1024128"/>
          </a:xfrm>
          <a:prstGeom prst="roundRect">
            <a:avLst>
              <a:gd name="adj" fmla="val 7143"/>
            </a:avLst>
          </a:prstGeom>
          <a:solidFill>
            <a:srgbClr val="FFFDF8"/>
          </a:solidFill>
          <a:ln w="10160">
            <a:solidFill>
              <a:srgbClr val="D6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8728" y="17190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8,197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8728" y="213969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完整会话窗口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9864" y="2057400"/>
            <a:ext cx="502920" cy="0"/>
          </a:xfrm>
          <a:prstGeom prst="line">
            <a:avLst/>
          </a:prstGeom>
          <a:noFill/>
          <a:ln w="20320">
            <a:solidFill>
              <a:srgbClr val="3C9B8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91656" y="1554480"/>
            <a:ext cx="2148840" cy="1024128"/>
          </a:xfrm>
          <a:prstGeom prst="roundRect">
            <a:avLst>
              <a:gd name="adj" fmla="val 7143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91656" y="17190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91656" y="213969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CE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分层抽取窗口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22792" y="2057400"/>
            <a:ext cx="502920" cy="0"/>
          </a:xfrm>
          <a:prstGeom prst="line">
            <a:avLst/>
          </a:prstGeom>
          <a:noFill/>
          <a:ln w="20320">
            <a:solidFill>
              <a:srgbClr val="3C9B8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44584" y="1554480"/>
            <a:ext cx="2148840" cy="1024128"/>
          </a:xfrm>
          <a:prstGeom prst="roundRect">
            <a:avLst>
              <a:gd name="adj" fmla="val 7143"/>
            </a:avLst>
          </a:prstGeom>
          <a:solidFill>
            <a:srgbClr val="FFFDF8"/>
          </a:solidFill>
          <a:ln w="10160">
            <a:solidFill>
              <a:srgbClr val="D6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44584" y="17190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44584" y="213969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实际分析消息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30632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 w="10160">
            <a:solidFill>
              <a:srgbClr val="D6DF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337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抽样：保留群聊／1v1 原始结构</a:t>
            </a:r>
            <a:endParaRPr lang="en-US" sz="1620" dirty="0"/>
          </a:p>
        </p:txBody>
      </p:sp>
      <p:sp>
        <p:nvSpPr>
          <p:cNvPr id="26" name="Shape 24"/>
          <p:cNvSpPr/>
          <p:nvPr/>
        </p:nvSpPr>
        <p:spPr>
          <a:xfrm>
            <a:off x="941832" y="3813048"/>
            <a:ext cx="73152" cy="73152"/>
          </a:xfrm>
          <a:prstGeom prst="ellipse">
            <a:avLst/>
          </a:prstGeom>
          <a:solidFill>
            <a:srgbClr val="147A72"/>
          </a:solidFill>
          <a:ln w="12700">
            <a:solidFill>
              <a:srgbClr val="147A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703320"/>
            <a:ext cx="45537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按会话形态比例分层：780 个群聊、220 个 1v1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941832" y="4194048"/>
            <a:ext cx="73152" cy="73152"/>
          </a:xfrm>
          <a:prstGeom prst="ellipse">
            <a:avLst/>
          </a:prstGeom>
          <a:solidFill>
            <a:srgbClr val="147A72"/>
          </a:solidFill>
          <a:ln w="12700">
            <a:solidFill>
              <a:srgbClr val="147A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084320"/>
            <a:ext cx="45537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每个窗口保留完整 100 条消息，不因内容“有趣”而换样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941832" y="4575048"/>
            <a:ext cx="73152" cy="73152"/>
          </a:xfrm>
          <a:prstGeom prst="ellipse">
            <a:avLst/>
          </a:prstGeom>
          <a:solidFill>
            <a:srgbClr val="147A72"/>
          </a:solidFill>
          <a:ln w="12700">
            <a:solidFill>
              <a:srgbClr val="147A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465320"/>
            <a:ext cx="45537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固定规则、可复算、可回到原始消息核验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263640" y="3063240"/>
            <a:ext cx="5239512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 w="10160">
            <a:solidFill>
              <a:srgbClr val="D6DF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3337560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分析：完整上下文语义理解</a:t>
            </a:r>
            <a:endParaRPr lang="en-US" sz="1620" dirty="0"/>
          </a:p>
        </p:txBody>
      </p:sp>
      <p:sp>
        <p:nvSpPr>
          <p:cNvPr id="34" name="Shape 32"/>
          <p:cNvSpPr/>
          <p:nvPr/>
        </p:nvSpPr>
        <p:spPr>
          <a:xfrm>
            <a:off x="6519672" y="3813048"/>
            <a:ext cx="73152" cy="73152"/>
          </a:xfrm>
          <a:prstGeom prst="ellipse">
            <a:avLst/>
          </a:prstGeom>
          <a:solidFill>
            <a:srgbClr val="426E9B"/>
          </a:solidFill>
          <a:ln w="12700">
            <a:solidFill>
              <a:srgbClr val="426E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3703320"/>
            <a:ext cx="44165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不是逐句贴标签，也不是关键词命中计数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6519672" y="4194048"/>
            <a:ext cx="73152" cy="73152"/>
          </a:xfrm>
          <a:prstGeom prst="ellipse">
            <a:avLst/>
          </a:prstGeom>
          <a:solidFill>
            <a:srgbClr val="426E9B"/>
          </a:solidFill>
          <a:ln w="12700">
            <a:solidFill>
              <a:srgbClr val="426E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4084320"/>
            <a:ext cx="44165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一个窗口允许识别多个 Topic；普通 Topic 至少覆盖 5% 消息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6519672" y="4575048"/>
            <a:ext cx="73152" cy="73152"/>
          </a:xfrm>
          <a:prstGeom prst="ellipse">
            <a:avLst/>
          </a:prstGeom>
          <a:solidFill>
            <a:srgbClr val="426E9B"/>
          </a:solidFill>
          <a:ln w="12700">
            <a:solidFill>
              <a:srgbClr val="426E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4465320"/>
            <a:ext cx="44165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分类、证据和角色关系均经过人工校准与质量检查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713232" y="55321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C85A5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适用边界：这 1000 个窗口适合识别主要结构和高频现场，但不能直接写成全平台用户发生率。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真实聊天可以归纳为三类活动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这比按功能点罗列，更接近用户为什么会在 IM 中开口。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  全景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66928" y="1499616"/>
            <a:ext cx="3246120" cy="4041648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1746504"/>
            <a:ext cx="512064" cy="512064"/>
          </a:xfrm>
          <a:prstGeom prst="ellipse">
            <a:avLst/>
          </a:prstGeom>
          <a:solidFill>
            <a:srgbClr val="147A72"/>
          </a:solidFill>
          <a:ln w="12700">
            <a:solidFill>
              <a:srgbClr val="147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746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35608" y="168249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教学服务履约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435608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让课程与任务真正发生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786384" y="2542032"/>
            <a:ext cx="2788920" cy="2505456"/>
          </a:xfrm>
          <a:prstGeom prst="roundRect">
            <a:avLst>
              <a:gd name="adj" fmla="val 2920"/>
            </a:avLst>
          </a:prstGeom>
          <a:solidFill>
            <a:srgbClr val="DCEFEA"/>
          </a:solidFill>
          <a:ln w="10160">
            <a:solidFill>
              <a:srgbClr val="DCE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73405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排课／调课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4128" y="3072384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17" name="Text 15"/>
          <p:cNvSpPr/>
          <p:nvPr/>
        </p:nvSpPr>
        <p:spPr>
          <a:xfrm>
            <a:off x="1024128" y="317296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到课／请假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4128" y="3511296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19" name="Text 17"/>
          <p:cNvSpPr/>
          <p:nvPr/>
        </p:nvSpPr>
        <p:spPr>
          <a:xfrm>
            <a:off x="1024128" y="36118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材料送达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24128" y="3950208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21" name="Text 19"/>
          <p:cNvSpPr/>
          <p:nvPr/>
        </p:nvSpPr>
        <p:spPr>
          <a:xfrm>
            <a:off x="1024128" y="40507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作业提交与订正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4128" y="4389120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23" name="Text 21"/>
          <p:cNvSpPr/>
          <p:nvPr/>
        </p:nvSpPr>
        <p:spPr>
          <a:xfrm>
            <a:off x="1024128" y="4489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技术排障／课酬核对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96512" y="1499616"/>
            <a:ext cx="3246120" cy="4041648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15968" y="1746504"/>
            <a:ext cx="512064" cy="512064"/>
          </a:xfrm>
          <a:prstGeom prst="ellipse">
            <a:avLst/>
          </a:prstGeom>
          <a:solidFill>
            <a:srgbClr val="426E9B"/>
          </a:solidFill>
          <a:ln w="12700">
            <a:solidFill>
              <a:srgbClr val="426E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1746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5192" y="168249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教学判断与内容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4965192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形成专业判断与教学成果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315968" y="2542032"/>
            <a:ext cx="2788920" cy="2505456"/>
          </a:xfrm>
          <a:prstGeom prst="roundRect">
            <a:avLst>
              <a:gd name="adj" fmla="val 2920"/>
            </a:avLst>
          </a:prstGeom>
          <a:solidFill>
            <a:srgbClr val="E3EBF3"/>
          </a:solidFill>
          <a:ln w="10160">
            <a:solidFill>
              <a:srgbClr val="E3EB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273405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学情／课后反馈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53712" y="3072384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32" name="Text 30"/>
          <p:cNvSpPr/>
          <p:nvPr/>
        </p:nvSpPr>
        <p:spPr>
          <a:xfrm>
            <a:off x="4553712" y="317296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教师教学评价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53712" y="3511296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34" name="Text 32"/>
          <p:cNvSpPr/>
          <p:nvPr/>
        </p:nvSpPr>
        <p:spPr>
          <a:xfrm>
            <a:off x="4553712" y="36118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教学方法与课堂设计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53712" y="3950208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36" name="Text 34"/>
          <p:cNvSpPr/>
          <p:nvPr/>
        </p:nvSpPr>
        <p:spPr>
          <a:xfrm>
            <a:off x="4553712" y="40507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课程与课件内容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53712" y="4389120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38" name="Text 36"/>
          <p:cNvSpPr/>
          <p:nvPr/>
        </p:nvSpPr>
        <p:spPr>
          <a:xfrm>
            <a:off x="4553712" y="4489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学习计划与测评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626096" y="1499616"/>
            <a:ext cx="3246120" cy="4041648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845552" y="1746504"/>
            <a:ext cx="512064" cy="512064"/>
          </a:xfrm>
          <a:prstGeom prst="ellipse">
            <a:avLst/>
          </a:prstGeom>
          <a:solidFill>
            <a:srgbClr val="7A62A6"/>
          </a:solidFill>
          <a:ln w="12700">
            <a:solidFill>
              <a:srgbClr val="7A62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45552" y="1746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94776" y="168249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关系与共同体</a:t>
            </a:r>
            <a:endParaRPr lang="en-US" sz="1750" dirty="0"/>
          </a:p>
        </p:txBody>
      </p:sp>
      <p:sp>
        <p:nvSpPr>
          <p:cNvPr id="43" name="Text 41"/>
          <p:cNvSpPr/>
          <p:nvPr/>
        </p:nvSpPr>
        <p:spPr>
          <a:xfrm>
            <a:off x="8494776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维持联络、信任与归属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7845552" y="2542032"/>
            <a:ext cx="2788920" cy="2505456"/>
          </a:xfrm>
          <a:prstGeom prst="roundRect">
            <a:avLst>
              <a:gd name="adj" fmla="val 2920"/>
            </a:avLst>
          </a:prstGeom>
          <a:solidFill>
            <a:srgbClr val="ECE7F5"/>
          </a:solidFill>
          <a:ln w="10160">
            <a:solidFill>
              <a:srgbClr val="ECE7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83296" y="273405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学生同伴交流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83296" y="3072384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47" name="Text 45"/>
          <p:cNvSpPr/>
          <p:nvPr/>
        </p:nvSpPr>
        <p:spPr>
          <a:xfrm>
            <a:off x="8083296" y="317296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兴趣／游戏／校园生活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083296" y="3511296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49" name="Text 47"/>
          <p:cNvSpPr/>
          <p:nvPr/>
        </p:nvSpPr>
        <p:spPr>
          <a:xfrm>
            <a:off x="8083296" y="36118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家庭沟通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83296" y="3950208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51" name="Text 49"/>
          <p:cNvSpPr/>
          <p:nvPr/>
        </p:nvSpPr>
        <p:spPr>
          <a:xfrm>
            <a:off x="8083296" y="40507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教师内部协作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083296" y="4389120"/>
            <a:ext cx="2194560" cy="0"/>
          </a:xfrm>
          <a:prstGeom prst="line">
            <a:avLst/>
          </a:prstGeom>
          <a:noFill/>
          <a:ln w="7620">
            <a:solidFill>
              <a:srgbClr val="C9D8D4"/>
            </a:solidFill>
            <a:prstDash val="solid"/>
            <a:headEnd type="none"/>
          </a:ln>
        </p:spPr>
      </p:sp>
      <p:sp>
        <p:nvSpPr>
          <p:cNvPr id="53" name="Text 51"/>
          <p:cNvSpPr/>
          <p:nvPr/>
        </p:nvSpPr>
        <p:spPr>
          <a:xfrm>
            <a:off x="8083296" y="4489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私人表达与情绪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76072" y="5742432"/>
            <a:ext cx="10287000" cy="438912"/>
          </a:xfrm>
          <a:prstGeom prst="roundRect">
            <a:avLst>
              <a:gd name="adj" fmla="val 16667"/>
            </a:avLst>
          </a:prstGeom>
          <a:solidFill>
            <a:srgbClr val="0B2D3B"/>
          </a:solidFill>
          <a:ln w="10160">
            <a:solidFill>
              <a:srgbClr val="0B2D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5751576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同一个会话经常跨越三层：例如“请假”同时涉及课程履约、机构规则和师生／家长关系。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PANORAMA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课程运营覆盖最广，但 IM 远不只承载教学任务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覆盖率指：1000 个窗口中，至少出现一次该一级主题的窗口比例。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  全景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66928" y="1508760"/>
            <a:ext cx="7543800" cy="4526280"/>
          </a:xfrm>
          <a:prstGeom prst="roundRect">
            <a:avLst>
              <a:gd name="adj" fmla="val 1616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105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课程运营与服务</a:t>
            </a:r>
            <a:endParaRPr lang="en-US" sz="1110" dirty="0"/>
          </a:p>
        </p:txBody>
      </p:sp>
      <p:sp>
        <p:nvSpPr>
          <p:cNvPr id="11" name="Shape 9"/>
          <p:cNvSpPr/>
          <p:nvPr/>
        </p:nvSpPr>
        <p:spPr>
          <a:xfrm>
            <a:off x="3017520" y="1856232"/>
            <a:ext cx="411480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856232"/>
            <a:ext cx="3840480" cy="137160"/>
          </a:xfrm>
          <a:prstGeom prst="roundRect">
            <a:avLst>
              <a:gd name="adj" fmla="val 53333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18059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39.2%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868680" y="236829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数字平台与技术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3017520" y="2414016"/>
            <a:ext cx="411480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2414016"/>
            <a:ext cx="3419203" cy="137160"/>
          </a:xfrm>
          <a:prstGeom prst="roundRect">
            <a:avLst>
              <a:gd name="adj" fmla="val 53333"/>
            </a:avLst>
          </a:prstGeom>
          <a:solidFill>
            <a:srgbClr val="426E9B"/>
          </a:solidFill>
          <a:ln w="10160">
            <a:solidFill>
              <a:srgbClr val="426E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236372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426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34.9%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868680" y="29260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学习与学业内容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3017520" y="2971800"/>
            <a:ext cx="411480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2971800"/>
            <a:ext cx="3144883" cy="137160"/>
          </a:xfrm>
          <a:prstGeom prst="roundRect">
            <a:avLst>
              <a:gd name="adj" fmla="val 53333"/>
            </a:avLst>
          </a:prstGeom>
          <a:solidFill>
            <a:srgbClr val="E58B44"/>
          </a:solidFill>
          <a:ln w="10160">
            <a:solidFill>
              <a:srgbClr val="E58B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29215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E58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32.1%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868680" y="34838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人际关系与社交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3017520" y="3529584"/>
            <a:ext cx="411480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3529584"/>
            <a:ext cx="2547257" cy="137160"/>
          </a:xfrm>
          <a:prstGeom prst="roundRect">
            <a:avLst>
              <a:gd name="adj" fmla="val 53333"/>
            </a:avLst>
          </a:prstGeom>
          <a:solidFill>
            <a:srgbClr val="7A62A6"/>
          </a:solidFill>
          <a:ln w="10160">
            <a:solidFill>
              <a:srgbClr val="7A62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347929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7A6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868680" y="40416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教学设计、实施与改进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3017520" y="4087368"/>
            <a:ext cx="411480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4087368"/>
            <a:ext cx="2302329" cy="137160"/>
          </a:xfrm>
          <a:prstGeom prst="roundRect">
            <a:avLst>
              <a:gd name="adj" fmla="val 53333"/>
            </a:avLst>
          </a:prstGeom>
          <a:solidFill>
            <a:srgbClr val="7E9D42"/>
          </a:solidFill>
          <a:ln w="10160">
            <a:solidFill>
              <a:srgbClr val="7E9D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403707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7E9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868680" y="45994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娱乐与创作</a:t>
            </a:r>
            <a:endParaRPr lang="en-US" sz="1110" dirty="0"/>
          </a:p>
        </p:txBody>
      </p:sp>
      <p:sp>
        <p:nvSpPr>
          <p:cNvPr id="31" name="Shape 29"/>
          <p:cNvSpPr/>
          <p:nvPr/>
        </p:nvSpPr>
        <p:spPr>
          <a:xfrm>
            <a:off x="3017520" y="4645152"/>
            <a:ext cx="411480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4645152"/>
            <a:ext cx="2282734" cy="137160"/>
          </a:xfrm>
          <a:prstGeom prst="roundRect">
            <a:avLst>
              <a:gd name="adj" fmla="val 53333"/>
            </a:avLst>
          </a:prstGeom>
          <a:solidFill>
            <a:srgbClr val="C85A55"/>
          </a:solidFill>
          <a:ln w="10160">
            <a:solidFill>
              <a:srgbClr val="C85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05472" y="45948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C8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868680" y="515721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日常生活、健康与出行</a:t>
            </a:r>
            <a:endParaRPr lang="en-US" sz="1110" dirty="0"/>
          </a:p>
        </p:txBody>
      </p:sp>
      <p:sp>
        <p:nvSpPr>
          <p:cNvPr id="35" name="Shape 33"/>
          <p:cNvSpPr/>
          <p:nvPr/>
        </p:nvSpPr>
        <p:spPr>
          <a:xfrm>
            <a:off x="3017520" y="5202936"/>
            <a:ext cx="411480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0" y="5202936"/>
            <a:ext cx="1234440" cy="137160"/>
          </a:xfrm>
          <a:prstGeom prst="roundRect">
            <a:avLst>
              <a:gd name="adj" fmla="val 53333"/>
            </a:avLst>
          </a:prstGeom>
          <a:solidFill>
            <a:srgbClr val="8B9B9B"/>
          </a:solidFill>
          <a:ln w="10160">
            <a:solidFill>
              <a:srgbClr val="8B9B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515264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8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8321040" y="1508760"/>
            <a:ext cx="3310128" cy="4526280"/>
          </a:xfrm>
          <a:prstGeom prst="roundRect">
            <a:avLst>
              <a:gd name="adj" fmla="val 2210"/>
            </a:avLst>
          </a:prstGeom>
          <a:solidFill>
            <a:srgbClr val="0B2D3B"/>
          </a:solidFill>
          <a:ln w="10160">
            <a:solidFill>
              <a:srgbClr val="0B2D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13648" y="18105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三个值得注意的差异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13648" y="239572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52560" y="23042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技术问题出现得广，</a:t>
            </a:r>
            <a:endParaRPr lang="en-US" sz="1240" dirty="0"/>
          </a:p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但单次讨论通常更短。</a:t>
            </a:r>
            <a:endParaRPr lang="en-US" sz="1240" dirty="0"/>
          </a:p>
        </p:txBody>
      </p:sp>
      <p:sp>
        <p:nvSpPr>
          <p:cNvPr id="42" name="Text 40"/>
          <p:cNvSpPr/>
          <p:nvPr/>
        </p:nvSpPr>
        <p:spPr>
          <a:xfrm>
            <a:off x="8613648" y="324612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52560" y="31546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学习讨论覆盖略低，</a:t>
            </a:r>
            <a:endParaRPr lang="en-US" sz="1240" dirty="0"/>
          </a:p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出现时往往占用更多消息。</a:t>
            </a:r>
            <a:endParaRPr lang="en-US" sz="1240" dirty="0"/>
          </a:p>
        </p:txBody>
      </p:sp>
      <p:sp>
        <p:nvSpPr>
          <p:cNvPr id="44" name="Text 42"/>
          <p:cNvSpPr/>
          <p:nvPr/>
        </p:nvSpPr>
        <p:spPr>
          <a:xfrm>
            <a:off x="8613648" y="41148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052560" y="4023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社交、娱乐和生活稳定存在，</a:t>
            </a:r>
            <a:endParaRPr lang="en-US" sz="1240" dirty="0"/>
          </a:p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不能简单当作“无效噪音”。</a:t>
            </a:r>
            <a:endParaRPr lang="en-US" sz="1240" dirty="0"/>
          </a:p>
        </p:txBody>
      </p:sp>
      <p:sp>
        <p:nvSpPr>
          <p:cNvPr id="46" name="Text 44"/>
          <p:cNvSpPr/>
          <p:nvPr/>
        </p:nvSpPr>
        <p:spPr>
          <a:xfrm>
            <a:off x="8613648" y="534924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ED0D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注：同一窗口可有多个主题，因此各项覆盖率之和会超过 100%。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MULTI-TOPIC REALITY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一个会话，平均不是一个主题，而是 3.18 个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真实沟通会在排课、作业、资料、技术和关系之间不断切换。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  全景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94360" y="1481328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一个 100 条消息窗口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2148840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23113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今晚能调整一下上课时间吗？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331720" y="2670048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DCEFEA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75234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2468880" y="2944368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 点半有语文，下午可以。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914400" y="3191256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27355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1051560" y="3465576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今天的练习发在群文件里。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2331720" y="3712464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DCEFEA"/>
          </a:solidFill>
          <a:ln w="10160">
            <a:solidFill>
              <a:srgbClr val="426E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379476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2468880" y="3986784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我听不到声音，又掉出去了。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14400" y="4233672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31596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1051560" y="4507992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先检查麦克风，我开临时教室。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2331720" y="4754880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DCEFEA"/>
          </a:solidFill>
          <a:ln w="10160">
            <a:solidFill>
              <a:srgbClr val="7A62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483717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2468880" y="5029200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明天想和同学一起写作业。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96112" y="544068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DCEFEA"/>
          </a:solidFill>
          <a:ln w="10160">
            <a:solidFill>
              <a:srgbClr val="DCEF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445252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课程协调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2313432" y="544068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F8E8D8"/>
          </a:solidFill>
          <a:ln w="10160">
            <a:solidFill>
              <a:srgbClr val="F8E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5445252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教材／作业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3730752" y="544068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E3EBF3"/>
          </a:solidFill>
          <a:ln w="10160">
            <a:solidFill>
              <a:srgbClr val="E3EB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0752" y="5445252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技术排障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148072" y="544068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ECE7F5"/>
          </a:solidFill>
          <a:ln w="10160">
            <a:solidFill>
              <a:srgbClr val="ECE7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8072" y="5445252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同伴安排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7543800" y="1481328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43800" y="1481328"/>
            <a:ext cx="64008" cy="1554480"/>
          </a:xfrm>
          <a:prstGeom prst="rect">
            <a:avLst/>
          </a:prstGeom>
          <a:solidFill>
            <a:srgbClr val="147A72"/>
          </a:solidFill>
          <a:ln w="12700">
            <a:solidFill>
              <a:srgbClr val="147A7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44968" y="163677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968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7744968" y="206654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窗口有正式 Topic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7744968" y="23774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其余窗口也可能包含上下文、短候选或碎片表达。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9582912" y="1481328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582912" y="1481328"/>
            <a:ext cx="64008" cy="1554480"/>
          </a:xfrm>
          <a:prstGeom prst="rect">
            <a:avLst/>
          </a:prstGeom>
          <a:solidFill>
            <a:srgbClr val="426E9B"/>
          </a:solidFill>
          <a:ln w="12700">
            <a:solidFill>
              <a:srgbClr val="426E9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84080" y="163677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26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851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9784080" y="206654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窗口有 2+ Topic</a:t>
            </a:r>
            <a:endParaRPr lang="en-US" sz="1240" dirty="0"/>
          </a:p>
        </p:txBody>
      </p:sp>
      <p:sp>
        <p:nvSpPr>
          <p:cNvPr id="46" name="Text 44"/>
          <p:cNvSpPr/>
          <p:nvPr/>
        </p:nvSpPr>
        <p:spPr>
          <a:xfrm>
            <a:off x="9784080" y="23774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因此不能把一个会话压成单一场景标签。</a:t>
            </a:r>
            <a:endParaRPr lang="en-US" sz="970" dirty="0"/>
          </a:p>
        </p:txBody>
      </p:sp>
      <p:sp>
        <p:nvSpPr>
          <p:cNvPr id="47" name="Shape 45"/>
          <p:cNvSpPr/>
          <p:nvPr/>
        </p:nvSpPr>
        <p:spPr>
          <a:xfrm>
            <a:off x="7543800" y="3264408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543800" y="3264408"/>
            <a:ext cx="64008" cy="1554480"/>
          </a:xfrm>
          <a:prstGeom prst="rect">
            <a:avLst/>
          </a:prstGeom>
          <a:solidFill>
            <a:srgbClr val="E58B44"/>
          </a:solidFill>
          <a:ln w="12700">
            <a:solidFill>
              <a:srgbClr val="E58B44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44968" y="341985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58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00" dirty="0"/>
          </a:p>
        </p:txBody>
      </p:sp>
      <p:sp>
        <p:nvSpPr>
          <p:cNvPr id="50" name="Text 48"/>
          <p:cNvSpPr/>
          <p:nvPr/>
        </p:nvSpPr>
        <p:spPr>
          <a:xfrm>
            <a:off x="7744968" y="38496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中位 Topic 数</a:t>
            </a:r>
            <a:endParaRPr lang="en-US" sz="1240" dirty="0"/>
          </a:p>
        </p:txBody>
      </p:sp>
      <p:sp>
        <p:nvSpPr>
          <p:cNvPr id="51" name="Text 49"/>
          <p:cNvSpPr/>
          <p:nvPr/>
        </p:nvSpPr>
        <p:spPr>
          <a:xfrm>
            <a:off x="7744968" y="4160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平均 3.18；75 分位为 4。</a:t>
            </a:r>
            <a:endParaRPr lang="en-US" sz="970" dirty="0"/>
          </a:p>
        </p:txBody>
      </p:sp>
      <p:sp>
        <p:nvSpPr>
          <p:cNvPr id="52" name="Shape 50"/>
          <p:cNvSpPr/>
          <p:nvPr/>
        </p:nvSpPr>
        <p:spPr>
          <a:xfrm>
            <a:off x="9582912" y="3264408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582912" y="3264408"/>
            <a:ext cx="64008" cy="1554480"/>
          </a:xfrm>
          <a:prstGeom prst="rect">
            <a:avLst/>
          </a:prstGeom>
          <a:solidFill>
            <a:srgbClr val="7A62A6"/>
          </a:solidFill>
          <a:ln w="12700">
            <a:solidFill>
              <a:srgbClr val="7A62A6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84080" y="341985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7A6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500" dirty="0"/>
          </a:p>
        </p:txBody>
      </p:sp>
      <p:sp>
        <p:nvSpPr>
          <p:cNvPr id="55" name="Text 53"/>
          <p:cNvSpPr/>
          <p:nvPr/>
        </p:nvSpPr>
        <p:spPr>
          <a:xfrm>
            <a:off x="9784080" y="38496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单窗最高 Topic 数</a:t>
            </a:r>
            <a:endParaRPr lang="en-US" sz="1240" dirty="0"/>
          </a:p>
        </p:txBody>
      </p:sp>
      <p:sp>
        <p:nvSpPr>
          <p:cNvPr id="56" name="Text 54"/>
          <p:cNvSpPr/>
          <p:nvPr/>
        </p:nvSpPr>
        <p:spPr>
          <a:xfrm>
            <a:off x="9784080" y="4160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多主题是现场常态，不是异常。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7543800" y="5093208"/>
            <a:ext cx="3867912" cy="896112"/>
          </a:xfrm>
          <a:prstGeom prst="roundRect">
            <a:avLst>
              <a:gd name="adj" fmla="val 8163"/>
            </a:avLst>
          </a:prstGeom>
          <a:solidFill>
            <a:srgbClr val="0B2D3B"/>
          </a:solidFill>
          <a:ln w="10160">
            <a:solidFill>
              <a:srgbClr val="0B2D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18120" y="523036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产品含义：理解“话题转场”和“任务承接”，</a:t>
            </a:r>
            <a:endParaRPr lang="en-US" sz="1210" dirty="0"/>
          </a:p>
          <a:p>
            <a:pPr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比给整段会话贴一个总标签更重要。</a:t>
            </a:r>
            <a:endParaRPr lang="en-US" sz="12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COMPOSITION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只有结合角色关系，主题才有业务含义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群聊是场景类型，1v1 是双方关系；两者需要分别看。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  角色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66928" y="1444752"/>
            <a:ext cx="5468112" cy="4343400"/>
          </a:xfrm>
          <a:prstGeom prst="roundRect">
            <a:avLst>
              <a:gd name="adj" fmla="val 1684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190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群聊 · 780 个窗口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26280" y="1719072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DCEFEA"/>
          </a:solidFill>
          <a:ln w="10160">
            <a:solidFill>
              <a:srgbClr val="DCE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236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95.0%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3957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师生班级群  741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3017520" y="2441448"/>
            <a:ext cx="201168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441448"/>
            <a:ext cx="1911096" cy="137160"/>
          </a:xfrm>
          <a:prstGeom prst="roundRect">
            <a:avLst>
              <a:gd name="adj" fmla="val 53333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239115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868680" y="30815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教师管理协作群  32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3017520" y="3127248"/>
            <a:ext cx="201168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127248"/>
            <a:ext cx="82479" cy="137160"/>
          </a:xfrm>
          <a:prstGeom prst="roundRect">
            <a:avLst>
              <a:gd name="adj" fmla="val 88692"/>
            </a:avLst>
          </a:prstGeom>
          <a:solidFill>
            <a:srgbClr val="426E9B"/>
          </a:solidFill>
          <a:ln w="10160">
            <a:solidFill>
              <a:srgbClr val="426E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07695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426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868680" y="37673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学生群  7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3017520" y="3813048"/>
            <a:ext cx="201168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3813048"/>
            <a:ext cx="64008" cy="137160"/>
          </a:xfrm>
          <a:prstGeom prst="roundRect">
            <a:avLst>
              <a:gd name="adj" fmla="val 114286"/>
            </a:avLst>
          </a:prstGeom>
          <a:solidFill>
            <a:srgbClr val="7A62A6"/>
          </a:solidFill>
          <a:ln w="10160">
            <a:solidFill>
              <a:srgbClr val="7A62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376275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7A6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868680" y="4864608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群聊数据主要由师生班级群构成，不能把它概括为所有群的一般规律。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45352" y="1444752"/>
            <a:ext cx="5376672" cy="4343400"/>
          </a:xfrm>
          <a:prstGeom prst="roundRect">
            <a:avLst>
              <a:gd name="adj" fmla="val 1684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17190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1v1 · 220 个窗口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085832" y="1719072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ECE7F5"/>
          </a:solidFill>
          <a:ln w="10160">
            <a:solidFill>
              <a:srgbClr val="ECE7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85832" y="17236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60.0%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233172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学生—学生  132</a:t>
            </a:r>
            <a:endParaRPr lang="en-US" sz="1110" dirty="0"/>
          </a:p>
        </p:txBody>
      </p:sp>
      <p:sp>
        <p:nvSpPr>
          <p:cNvPr id="31" name="Shape 29"/>
          <p:cNvSpPr/>
          <p:nvPr/>
        </p:nvSpPr>
        <p:spPr>
          <a:xfrm>
            <a:off x="8686800" y="2377440"/>
            <a:ext cx="178308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0" y="2377440"/>
            <a:ext cx="1783080" cy="137160"/>
          </a:xfrm>
          <a:prstGeom prst="roundRect">
            <a:avLst>
              <a:gd name="adj" fmla="val 53333"/>
            </a:avLst>
          </a:prstGeom>
          <a:solidFill>
            <a:srgbClr val="7A62A6"/>
          </a:solidFill>
          <a:ln w="10160">
            <a:solidFill>
              <a:srgbClr val="7A62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43032" y="23271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7A6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6537960" y="28986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教师/管理者—教师  44</a:t>
            </a:r>
            <a:endParaRPr lang="en-US" sz="1110" dirty="0"/>
          </a:p>
        </p:txBody>
      </p:sp>
      <p:sp>
        <p:nvSpPr>
          <p:cNvPr id="35" name="Shape 33"/>
          <p:cNvSpPr/>
          <p:nvPr/>
        </p:nvSpPr>
        <p:spPr>
          <a:xfrm>
            <a:off x="8686800" y="2944368"/>
            <a:ext cx="178308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0" y="2944368"/>
            <a:ext cx="594360" cy="137160"/>
          </a:xfrm>
          <a:prstGeom prst="roundRect">
            <a:avLst>
              <a:gd name="adj" fmla="val 53333"/>
            </a:avLst>
          </a:prstGeom>
          <a:solidFill>
            <a:srgbClr val="426E9B"/>
          </a:solidFill>
          <a:ln w="10160">
            <a:solidFill>
              <a:srgbClr val="426E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43032" y="289407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426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6537960" y="346557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教师—学生  37</a:t>
            </a:r>
            <a:endParaRPr lang="en-US" sz="1110" dirty="0"/>
          </a:p>
        </p:txBody>
      </p:sp>
      <p:sp>
        <p:nvSpPr>
          <p:cNvPr id="39" name="Shape 37"/>
          <p:cNvSpPr/>
          <p:nvPr/>
        </p:nvSpPr>
        <p:spPr>
          <a:xfrm>
            <a:off x="8686800" y="3511296"/>
            <a:ext cx="178308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0" y="3511296"/>
            <a:ext cx="499262" cy="137160"/>
          </a:xfrm>
          <a:prstGeom prst="roundRect">
            <a:avLst>
              <a:gd name="adj" fmla="val 53333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43032" y="346100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070" dirty="0"/>
          </a:p>
        </p:txBody>
      </p:sp>
      <p:sp>
        <p:nvSpPr>
          <p:cNvPr id="42" name="Text 40"/>
          <p:cNvSpPr/>
          <p:nvPr/>
        </p:nvSpPr>
        <p:spPr>
          <a:xfrm>
            <a:off x="6537960" y="40325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家长相关  7</a:t>
            </a:r>
            <a:endParaRPr lang="en-US" sz="1110" dirty="0"/>
          </a:p>
        </p:txBody>
      </p:sp>
      <p:sp>
        <p:nvSpPr>
          <p:cNvPr id="43" name="Shape 41"/>
          <p:cNvSpPr/>
          <p:nvPr/>
        </p:nvSpPr>
        <p:spPr>
          <a:xfrm>
            <a:off x="8686800" y="4078224"/>
            <a:ext cx="178308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86800" y="4078224"/>
            <a:ext cx="95098" cy="137160"/>
          </a:xfrm>
          <a:prstGeom prst="roundRect">
            <a:avLst>
              <a:gd name="adj" fmla="val 76923"/>
            </a:avLst>
          </a:prstGeom>
          <a:solidFill>
            <a:srgbClr val="E58B44"/>
          </a:solidFill>
          <a:ln w="10160">
            <a:solidFill>
              <a:srgbClr val="E58B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43032" y="402793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E58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070" dirty="0"/>
          </a:p>
        </p:txBody>
      </p:sp>
      <p:sp>
        <p:nvSpPr>
          <p:cNvPr id="46" name="Text 44"/>
          <p:cNvSpPr/>
          <p:nvPr/>
        </p:nvSpPr>
        <p:spPr>
          <a:xfrm>
            <a:off x="6537960" y="4864608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不拆角色，“1v1 主题排名”会把教师薪酬、学生游戏、师生作业混在一起。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468880" y="5925312"/>
            <a:ext cx="7223760" cy="347472"/>
          </a:xfrm>
          <a:prstGeom prst="roundRect">
            <a:avLst>
              <a:gd name="adj" fmla="val 21053"/>
            </a:avLst>
          </a:prstGeom>
          <a:solidFill>
            <a:srgbClr val="0B2D3B"/>
          </a:solidFill>
          <a:ln w="10160">
            <a:solidFill>
              <a:srgbClr val="0B2D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51760" y="593445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同一个 Topic，在不同角色关系中，代表的是不同任务、责任和产品需求。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01 · SCHEDULING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课程调整：一句“改时间”，背后是多方约束协商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师生班级群｜S1000-0424｜42/100 条消息共同支持该主题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 案例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66928" y="1444752"/>
            <a:ext cx="6492240" cy="4526280"/>
          </a:xfrm>
          <a:prstGeom prst="roundRect">
            <a:avLst>
              <a:gd name="adj" fmla="val 1616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755648"/>
            <a:ext cx="361188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3794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数学老师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1005840" y="20299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今儿下午正常上课吧？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2148840" y="2459736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DCEFEA"/>
          </a:solidFill>
          <a:ln w="10160">
            <a:solidFill>
              <a:srgbClr val="426E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542032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2286000" y="27340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 点半有语文，下午能连吗？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68680" y="3191256"/>
            <a:ext cx="2971800" cy="557784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2735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数学老师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1005840" y="3465576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我下午满课。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2148840" y="3877056"/>
            <a:ext cx="3977640" cy="576072"/>
          </a:xfrm>
          <a:prstGeom prst="roundRect">
            <a:avLst>
              <a:gd name="adj" fmla="val 12698"/>
            </a:avLst>
          </a:prstGeom>
          <a:solidFill>
            <a:srgbClr val="DCEFEA"/>
          </a:solidFill>
          <a:ln w="10160">
            <a:solidFill>
              <a:srgbClr val="426E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3959352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2286000" y="415137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今天数学能调到晚上吗？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68680" y="4581144"/>
            <a:ext cx="3429000" cy="557784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66344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数学老师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1005840" y="4855464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今晚也有课，调不了。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2148840" y="5266944"/>
            <a:ext cx="2971800" cy="475488"/>
          </a:xfrm>
          <a:prstGeom prst="roundRect">
            <a:avLst>
              <a:gd name="adj" fmla="val 15385"/>
            </a:avLst>
          </a:prstGeom>
          <a:solidFill>
            <a:srgbClr val="DCEFEA"/>
          </a:solidFill>
          <a:ln w="10160">
            <a:solidFill>
              <a:srgbClr val="426E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53492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2286000" y="5541264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那今天请假。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296912" y="1444752"/>
            <a:ext cx="1856232" cy="1572768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96912" y="1444752"/>
            <a:ext cx="64008" cy="1572768"/>
          </a:xfrm>
          <a:prstGeom prst="rect">
            <a:avLst/>
          </a:prstGeom>
          <a:solidFill>
            <a:srgbClr val="147A72"/>
          </a:solidFill>
          <a:ln w="12700">
            <a:solidFill>
              <a:srgbClr val="147A7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160020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7498080" y="2029968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涉及课程变更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7498080" y="2340864"/>
            <a:ext cx="1536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固定样本中覆盖窗口数。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9363456" y="1444752"/>
            <a:ext cx="1856232" cy="1572768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363456" y="1444752"/>
            <a:ext cx="64008" cy="1572768"/>
          </a:xfrm>
          <a:prstGeom prst="rect">
            <a:avLst/>
          </a:prstGeom>
          <a:solidFill>
            <a:srgbClr val="E58B44"/>
          </a:solidFill>
          <a:ln w="12700">
            <a:solidFill>
              <a:srgbClr val="E58B4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64624" y="160020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58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23.0%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9564624" y="2029968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全样本覆盖率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9564624" y="2340864"/>
            <a:ext cx="1536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是覆盖最广的具体 Topic。</a:t>
            </a:r>
            <a:endParaRPr lang="en-US" sz="970" dirty="0"/>
          </a:p>
        </p:txBody>
      </p:sp>
      <p:sp>
        <p:nvSpPr>
          <p:cNvPr id="38" name="Text 36"/>
          <p:cNvSpPr/>
          <p:nvPr/>
        </p:nvSpPr>
        <p:spPr>
          <a:xfrm>
            <a:off x="7315200" y="34015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真正的业务问题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15200" y="3822192"/>
            <a:ext cx="347472" cy="347472"/>
          </a:xfrm>
          <a:prstGeom prst="ellipse">
            <a:avLst/>
          </a:prstGeom>
          <a:solidFill>
            <a:srgbClr val="147A72"/>
          </a:solidFill>
          <a:ln w="12700">
            <a:solidFill>
              <a:srgbClr val="147A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99832" y="38039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发现冲突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805672" y="38039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学生其他课程 × 教师满课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7315200" y="4425696"/>
            <a:ext cx="347472" cy="347472"/>
          </a:xfrm>
          <a:prstGeom prst="ellipse">
            <a:avLst/>
          </a:prstGeom>
          <a:solidFill>
            <a:srgbClr val="147A72"/>
          </a:solidFill>
          <a:ln w="12700">
            <a:solidFill>
              <a:srgbClr val="147A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99832" y="44074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尝试替代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805672" y="4407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下午、晚上等候选时段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7315200" y="5029200"/>
            <a:ext cx="347472" cy="347472"/>
          </a:xfrm>
          <a:prstGeom prst="ellipse">
            <a:avLst/>
          </a:prstGeom>
          <a:solidFill>
            <a:srgbClr val="E58B44"/>
          </a:solidFill>
          <a:ln w="12700">
            <a:solidFill>
              <a:srgbClr val="E58B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5029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99832" y="50109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形成结果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805672" y="5010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无法协调 → 请假／改课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7296912" y="5696712"/>
            <a:ext cx="3922776" cy="448056"/>
          </a:xfrm>
          <a:prstGeom prst="roundRect">
            <a:avLst>
              <a:gd name="adj" fmla="val 16327"/>
            </a:avLst>
          </a:prstGeom>
          <a:solidFill>
            <a:srgbClr val="DCEFEA"/>
          </a:solidFill>
          <a:ln w="10160">
            <a:solidFill>
              <a:srgbClr val="DCEF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0" y="5705856"/>
            <a:ext cx="3538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机会：把自然语言时间约束转成可比较的调课方案，再由有权限者确认。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02 · HOMEWORK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作业沟通的价值，不在“提醒一次”，而在反馈闭环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师生班级群与教师—学生 1v1 中都稳定出现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 案例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94360" y="1481328"/>
            <a:ext cx="1874520" cy="1536192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481328"/>
            <a:ext cx="64008" cy="1536192"/>
          </a:xfrm>
          <a:prstGeom prst="rect">
            <a:avLst/>
          </a:prstGeom>
          <a:solidFill>
            <a:srgbClr val="E58B44"/>
          </a:solidFill>
          <a:ln w="12700">
            <a:solidFill>
              <a:srgbClr val="E58B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6367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58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95528" y="2066544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覆盖窗口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795528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作业布置、完成与订正。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94360" y="3246120"/>
            <a:ext cx="1874520" cy="1536192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0160">
            <a:solidFill>
              <a:srgbClr val="D7DFDD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246120"/>
            <a:ext cx="64008" cy="1536192"/>
          </a:xfrm>
          <a:prstGeom prst="rect">
            <a:avLst/>
          </a:prstGeom>
          <a:solidFill>
            <a:srgbClr val="147A72"/>
          </a:solidFill>
          <a:ln w="12700">
            <a:solidFill>
              <a:srgbClr val="147A7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401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5528" y="383133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样本内覆盖率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795528" y="41422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不是单纯的一句“交作业”。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94360" y="5047488"/>
            <a:ext cx="1874520" cy="941832"/>
          </a:xfrm>
          <a:prstGeom prst="roundRect">
            <a:avLst>
              <a:gd name="adj" fmla="val 7767"/>
            </a:avLst>
          </a:prstGeom>
          <a:solidFill>
            <a:srgbClr val="0B2D3B"/>
          </a:solidFill>
          <a:ln w="10160">
            <a:solidFill>
              <a:srgbClr val="0B2D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5202936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典型链路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提交 → 反馈 → 订正 → 确认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80360" y="1828800"/>
            <a:ext cx="1737360" cy="324612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65576" y="2084832"/>
            <a:ext cx="566928" cy="566928"/>
          </a:xfrm>
          <a:prstGeom prst="ellipse">
            <a:avLst/>
          </a:prstGeom>
          <a:solidFill>
            <a:srgbClr val="147A72"/>
          </a:solidFill>
          <a:ln w="12700">
            <a:solidFill>
              <a:srgbClr val="147A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6557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63240" y="2816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063240" y="3401568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“邱老师，交作业啦”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654296" y="3456432"/>
            <a:ext cx="274320" cy="0"/>
          </a:xfrm>
          <a:prstGeom prst="line">
            <a:avLst/>
          </a:prstGeom>
          <a:noFill/>
          <a:ln w="19050">
            <a:solidFill>
              <a:srgbClr val="90A6A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983480" y="1828800"/>
            <a:ext cx="1737360" cy="324612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68696" y="2084832"/>
            <a:ext cx="566928" cy="566928"/>
          </a:xfrm>
          <a:prstGeom prst="ellipse">
            <a:avLst/>
          </a:prstGeom>
          <a:solidFill>
            <a:srgbClr val="426E9B"/>
          </a:solidFill>
          <a:ln w="12700">
            <a:solidFill>
              <a:srgbClr val="426E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6869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2816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具体反馈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166360" y="3401568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“第五题有部分没翻译出来……”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6757416" y="3456432"/>
            <a:ext cx="274320" cy="0"/>
          </a:xfrm>
          <a:prstGeom prst="line">
            <a:avLst/>
          </a:prstGeom>
          <a:noFill/>
          <a:ln w="19050">
            <a:solidFill>
              <a:srgbClr val="90A6A4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086600" y="1828800"/>
            <a:ext cx="1737360" cy="324612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71816" y="2084832"/>
            <a:ext cx="566928" cy="566928"/>
          </a:xfrm>
          <a:prstGeom prst="ellipse">
            <a:avLst/>
          </a:prstGeom>
          <a:solidFill>
            <a:srgbClr val="E58B44"/>
          </a:solidFill>
          <a:ln w="12700">
            <a:solidFill>
              <a:srgbClr val="E58B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7181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69480" y="2816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订正／补漏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269480" y="3401568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“现在让他订正”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“21 题没发哦”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8860536" y="3456432"/>
            <a:ext cx="274320" cy="0"/>
          </a:xfrm>
          <a:prstGeom prst="line">
            <a:avLst/>
          </a:prstGeom>
          <a:noFill/>
          <a:ln w="19050">
            <a:solidFill>
              <a:srgbClr val="90A6A4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189720" y="1828800"/>
            <a:ext cx="1737360" cy="3246120"/>
          </a:xfrm>
          <a:prstGeom prst="roundRect">
            <a:avLst>
              <a:gd name="adj" fmla="val 4211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774936" y="2084832"/>
            <a:ext cx="566928" cy="566928"/>
          </a:xfrm>
          <a:prstGeom prst="ellipse">
            <a:avLst/>
          </a:prstGeom>
          <a:solidFill>
            <a:srgbClr val="7A62A6"/>
          </a:solidFill>
          <a:ln w="12700">
            <a:solidFill>
              <a:srgbClr val="7A62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7493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72600" y="2816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再次确认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372600" y="3401568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“一会再拍照给您”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“收到订正”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2880360" y="539496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8E8D8"/>
          </a:solidFill>
          <a:ln w="10160">
            <a:solidFill>
              <a:srgbClr val="F8E8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63824" y="5440680"/>
            <a:ext cx="7479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914F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产品判断：正式作业对象和状态由业务系统负责；AI 更适合整理反馈、生成说明和提示下一步，而不是猜测“是否完成”。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03 · TEACHER OPERATIONS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教师管理沟通，本质上是一条人工工作流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教师/管理者—教师 1v1｜44 个窗口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 案例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66928" y="1463040"/>
            <a:ext cx="4846320" cy="4526280"/>
          </a:xfrm>
          <a:prstGeom prst="roundRect">
            <a:avLst>
              <a:gd name="adj" fmla="val 1616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真实消息节选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9536" y="2249424"/>
            <a:ext cx="3968496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33172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教师部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996696" y="2523744"/>
            <a:ext cx="3694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 月 16 日—31 日总课时 42 节，请核对。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441448" y="3035808"/>
            <a:ext cx="2057400" cy="484632"/>
          </a:xfrm>
          <a:prstGeom prst="roundRect">
            <a:avLst>
              <a:gd name="adj" fmla="val 15094"/>
            </a:avLst>
          </a:prstGeom>
          <a:solidFill>
            <a:srgbClr val="DCEFEA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311810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2578608" y="331012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right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59536" y="3657600"/>
            <a:ext cx="3968496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" y="3739896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教师部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996696" y="3931920"/>
            <a:ext cx="36941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核对完成后，我将提交审核并发给财务。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59536" y="4507992"/>
            <a:ext cx="3968496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4590288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教师部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996696" y="4782312"/>
            <a:ext cx="36941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财务周六休假，需要提前核对发放工资。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571500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角色内高频事项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715000" y="22677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课程改期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7863840" y="2313432"/>
            <a:ext cx="237744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313432"/>
            <a:ext cx="2159508" cy="137160"/>
          </a:xfrm>
          <a:prstGeom prst="roundRect">
            <a:avLst>
              <a:gd name="adj" fmla="val 53333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14432" y="22631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54.5%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5715000" y="28803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课酬／薪资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7863840" y="2926080"/>
            <a:ext cx="237744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2926080"/>
            <a:ext cx="1620622" cy="137160"/>
          </a:xfrm>
          <a:prstGeom prst="roundRect">
            <a:avLst>
              <a:gd name="adj" fmla="val 53333"/>
            </a:avLst>
          </a:prstGeom>
          <a:solidFill>
            <a:srgbClr val="E58B44"/>
          </a:solidFill>
          <a:ln w="10160">
            <a:solidFill>
              <a:srgbClr val="E58B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14432" y="287578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E58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40.9%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5715000" y="34930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到课／缺勤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7863840" y="3538728"/>
            <a:ext cx="237744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3538728"/>
            <a:ext cx="1351178" cy="137160"/>
          </a:xfrm>
          <a:prstGeom prst="roundRect">
            <a:avLst>
              <a:gd name="adj" fmla="val 53333"/>
            </a:avLst>
          </a:prstGeom>
          <a:solidFill>
            <a:srgbClr val="426E9B"/>
          </a:solidFill>
          <a:ln w="10160">
            <a:solidFill>
              <a:srgbClr val="426E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14432" y="348843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426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34.1%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5715000" y="410565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教材资料</a:t>
            </a:r>
            <a:endParaRPr lang="en-US" sz="1110" dirty="0"/>
          </a:p>
        </p:txBody>
      </p:sp>
      <p:sp>
        <p:nvSpPr>
          <p:cNvPr id="37" name="Shape 35"/>
          <p:cNvSpPr/>
          <p:nvPr/>
        </p:nvSpPr>
        <p:spPr>
          <a:xfrm>
            <a:off x="7863840" y="4151376"/>
            <a:ext cx="237744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4151376"/>
            <a:ext cx="1168908" cy="137160"/>
          </a:xfrm>
          <a:prstGeom prst="roundRect">
            <a:avLst>
              <a:gd name="adj" fmla="val 53333"/>
            </a:avLst>
          </a:prstGeom>
          <a:solidFill>
            <a:srgbClr val="7A62A6"/>
          </a:solidFill>
          <a:ln w="10160">
            <a:solidFill>
              <a:srgbClr val="7A62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14432" y="410108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7A6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29.5%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5715000" y="47183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可用时段／排班</a:t>
            </a:r>
            <a:endParaRPr lang="en-US" sz="1110" dirty="0"/>
          </a:p>
        </p:txBody>
      </p:sp>
      <p:sp>
        <p:nvSpPr>
          <p:cNvPr id="41" name="Shape 39"/>
          <p:cNvSpPr/>
          <p:nvPr/>
        </p:nvSpPr>
        <p:spPr>
          <a:xfrm>
            <a:off x="7863840" y="4764024"/>
            <a:ext cx="2377440" cy="137160"/>
          </a:xfrm>
          <a:prstGeom prst="roundRect">
            <a:avLst>
              <a:gd name="adj" fmla="val 53333"/>
            </a:avLst>
          </a:prstGeom>
          <a:solidFill>
            <a:srgbClr val="E3E8E6"/>
          </a:solidFill>
          <a:ln w="10160">
            <a:solidFill>
              <a:srgbClr val="E3E8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4764024"/>
            <a:ext cx="899465" cy="137160"/>
          </a:xfrm>
          <a:prstGeom prst="roundRect">
            <a:avLst>
              <a:gd name="adj" fmla="val 53333"/>
            </a:avLst>
          </a:prstGeom>
          <a:solidFill>
            <a:srgbClr val="7E9D42"/>
          </a:solidFill>
          <a:ln w="10160">
            <a:solidFill>
              <a:srgbClr val="7E9D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14432" y="471373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70" b="1" dirty="0">
                <a:solidFill>
                  <a:srgbClr val="7E9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22.7%</a:t>
            </a:r>
            <a:endParaRPr lang="en-US" sz="1070" dirty="0"/>
          </a:p>
        </p:txBody>
      </p:sp>
      <p:sp>
        <p:nvSpPr>
          <p:cNvPr id="44" name="Shape 42"/>
          <p:cNvSpPr/>
          <p:nvPr/>
        </p:nvSpPr>
        <p:spPr>
          <a:xfrm>
            <a:off x="5715000" y="5358384"/>
            <a:ext cx="5166360" cy="694944"/>
          </a:xfrm>
          <a:prstGeom prst="roundRect">
            <a:avLst>
              <a:gd name="adj" fmla="val 10526"/>
            </a:avLst>
          </a:prstGeom>
          <a:solidFill>
            <a:srgbClr val="0B2D3B"/>
          </a:solidFill>
          <a:ln w="10160">
            <a:solidFill>
              <a:srgbClr val="0B2D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5458968"/>
            <a:ext cx="4617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聊天中已经出现流程状态：统计 → 核对 → 审核 → 财务发放。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真正机会是承接状态，而不是再生成一段管理话术。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04 · STUDENT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学生侧同时存在学习协作与同伴生活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如果只保留“教学相关”，就会误解学生为什么愿意持续使用 IM。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 案例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66928" y="1444752"/>
            <a:ext cx="5349240" cy="4498848"/>
          </a:xfrm>
          <a:prstGeom prst="roundRect">
            <a:avLst>
              <a:gd name="adj" fmla="val 1626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737360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ECE7F5"/>
          </a:solidFill>
          <a:ln w="10160">
            <a:solidFill>
              <a:srgbClr val="EC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74193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同伴娱乐协调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221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“有游戏陪吗？”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68680" y="2816352"/>
            <a:ext cx="288036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8986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同学 A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1005840" y="309067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有游戏陪吗？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828800" y="3493008"/>
            <a:ext cx="3246120" cy="594360"/>
          </a:xfrm>
          <a:prstGeom prst="roundRect">
            <a:avLst>
              <a:gd name="adj" fmla="val 12308"/>
            </a:avLst>
          </a:prstGeom>
          <a:solidFill>
            <a:srgbClr val="DCEFEA"/>
          </a:solidFill>
          <a:ln w="10160">
            <a:solidFill>
              <a:srgbClr val="7A62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35753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同学 B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1965960" y="376732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什么游戏？只能明天玩。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68680" y="4270248"/>
            <a:ext cx="3337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35254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同学 A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1005840" y="454456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和平，王者也行。可以。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77824" y="50749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先提出需求，再选择内容、确认时间并建立连接。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它不是教学任务，却是真实的使用目的。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444752"/>
            <a:ext cx="5349240" cy="4498848"/>
          </a:xfrm>
          <a:prstGeom prst="roundRect">
            <a:avLst>
              <a:gd name="adj" fmla="val 1626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65392" y="1737360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F8E8D8"/>
          </a:solidFill>
          <a:ln w="10160">
            <a:solidFill>
              <a:srgbClr val="F8E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174193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同伴学习求助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5392" y="222199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“我只想要个启发而已”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565392" y="2816352"/>
            <a:ext cx="333756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289864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 A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6702552" y="3090672"/>
            <a:ext cx="3063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作文完全不知道怎么写。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882128" y="3493008"/>
            <a:ext cx="2560320" cy="521208"/>
          </a:xfrm>
          <a:prstGeom prst="roundRect">
            <a:avLst>
              <a:gd name="adj" fmla="val 14035"/>
            </a:avLst>
          </a:prstGeom>
          <a:solidFill>
            <a:srgbClr val="DCEFEA"/>
          </a:solidFill>
          <a:ln w="10160">
            <a:solidFill>
              <a:srgbClr val="E58B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9288" y="35753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 B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8019288" y="376732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万能的豆包。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565392" y="4160520"/>
            <a:ext cx="39776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7DF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02552" y="4242816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 A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6702552" y="44348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爸妈会检查。给我个开头，我只想要启发。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6565392" y="5074920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真实需求不是“代写答案”，而是获得启发、保留自主性，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同时处理家长检查与 AI 使用边界。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" y="6126480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学生—学生 1v1：游戏 20.5% · 见面安排 16.7% · 校园生活 15.2% · 作业 13.6% · 同伴关系 12.9%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× TOPIC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同样叫“作业”，在三种关系里是三件不同的事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主题名称只是入口；角色、责任和后续动作决定产品需求。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 案例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66928" y="150876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78308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CEFEA"/>
          </a:solidFill>
          <a:ln w="10160">
            <a:solidFill>
              <a:srgbClr val="DCE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787652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 — 学生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822960" y="22585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反馈闭环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2788920"/>
            <a:ext cx="2724912" cy="941832"/>
          </a:xfrm>
          <a:prstGeom prst="roundRect">
            <a:avLst>
              <a:gd name="adj" fmla="val 7767"/>
            </a:avLst>
          </a:prstGeom>
          <a:solidFill>
            <a:srgbClr val="DCEFEA"/>
          </a:solidFill>
          <a:ln w="10160">
            <a:solidFill>
              <a:srgbClr val="DCE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1693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“21 题没发哦”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“对比订正完善”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0050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真实需要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需要定位缺漏、反馈、订正与再次确认。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822960" y="49834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产品承接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822960" y="5230368"/>
            <a:ext cx="2724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作业状态 + 教师反馈 + 订正入口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133088" y="150876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178308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ECE7F5"/>
          </a:solidFill>
          <a:ln w="10160">
            <a:solidFill>
              <a:srgbClr val="ECE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787652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 — 学生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4389120" y="22585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同伴互助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389120" y="2788920"/>
            <a:ext cx="2724912" cy="941832"/>
          </a:xfrm>
          <a:prstGeom prst="roundRect">
            <a:avLst>
              <a:gd name="adj" fmla="val 7767"/>
            </a:avLst>
          </a:prstGeom>
          <a:solidFill>
            <a:srgbClr val="ECE7F5"/>
          </a:solidFill>
          <a:ln w="10160">
            <a:solidFill>
              <a:srgbClr val="ECE7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91693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“给我个开头呗”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“我只想要个启发”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0" y="40050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真实需要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4389120" y="4251960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需要启发、讨论与协作，而不一定是标准答案。</a:t>
            </a:r>
            <a:endParaRPr lang="en-US" sz="1110" dirty="0"/>
          </a:p>
        </p:txBody>
      </p:sp>
      <p:sp>
        <p:nvSpPr>
          <p:cNvPr id="27" name="Text 25"/>
          <p:cNvSpPr/>
          <p:nvPr/>
        </p:nvSpPr>
        <p:spPr>
          <a:xfrm>
            <a:off x="4389120" y="49834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产品承接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4389120" y="5230368"/>
            <a:ext cx="2724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轻量讨论 + 引用上下文 + 安全的 AI 辅助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699248" y="150876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55280" y="1783080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8E8D8"/>
          </a:solidFill>
          <a:ln w="10160">
            <a:solidFill>
              <a:srgbClr val="F8E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1787652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 — 家长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7955280" y="22585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监督与计划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955280" y="2788920"/>
            <a:ext cx="2724912" cy="941832"/>
          </a:xfrm>
          <a:prstGeom prst="roundRect">
            <a:avLst>
              <a:gd name="adj" fmla="val 7767"/>
            </a:avLst>
          </a:prstGeom>
          <a:solidFill>
            <a:srgbClr val="F8E8D8"/>
          </a:solidFill>
          <a:ln w="10160">
            <a:solidFill>
              <a:srgbClr val="F8E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291693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“今天做了什么作业？”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“单词要背哟”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955280" y="40050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真实需要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7955280" y="4251960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需要了解进度、安排家庭学习并确认提交。</a:t>
            </a:r>
            <a:endParaRPr lang="en-US" sz="1110" dirty="0"/>
          </a:p>
        </p:txBody>
      </p:sp>
      <p:sp>
        <p:nvSpPr>
          <p:cNvPr id="37" name="Text 35"/>
          <p:cNvSpPr/>
          <p:nvPr/>
        </p:nvSpPr>
        <p:spPr>
          <a:xfrm>
            <a:off x="7955280" y="49834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产品承接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7955280" y="5230368"/>
            <a:ext cx="2724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家长可见进度 + 提醒 + 权限边界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JUDGMENT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最值得做的，不是让 AI 多说一句，而是完成五种转化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IM 是意图、约束、承诺和人类判断刚刚产生的地方。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  判断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30352" y="1591056"/>
            <a:ext cx="1874520" cy="397764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591056"/>
            <a:ext cx="1874520" cy="585216"/>
          </a:xfrm>
          <a:prstGeom prst="roundRect">
            <a:avLst>
              <a:gd name="adj" fmla="val 125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7190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24871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意图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9264" y="3035808"/>
            <a:ext cx="1005840" cy="0"/>
          </a:xfrm>
          <a:prstGeom prst="line">
            <a:avLst/>
          </a:prstGeom>
          <a:noFill/>
          <a:ln w="25400">
            <a:solidFill>
              <a:srgbClr val="147A72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13232" y="33101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业务动作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94944" y="4096512"/>
            <a:ext cx="1545336" cy="868680"/>
          </a:xfrm>
          <a:prstGeom prst="roundRect">
            <a:avLst>
              <a:gd name="adj" fmla="val 8421"/>
            </a:avLst>
          </a:prstGeom>
          <a:solidFill>
            <a:srgbClr val="DCEFEA"/>
          </a:solidFill>
          <a:ln w="10160">
            <a:solidFill>
              <a:srgbClr val="DCE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215384"/>
            <a:ext cx="1252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请假 → 变更申请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2487168" y="32552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DA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852928" y="1591056"/>
            <a:ext cx="1874520" cy="397764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52928" y="1591056"/>
            <a:ext cx="1874520" cy="585216"/>
          </a:xfrm>
          <a:prstGeom prst="roundRect">
            <a:avLst>
              <a:gd name="adj" fmla="val 12500"/>
            </a:avLst>
          </a:prstGeom>
          <a:solidFill>
            <a:srgbClr val="426E9B"/>
          </a:solidFill>
          <a:ln w="10160">
            <a:solidFill>
              <a:srgbClr val="426E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5808" y="17190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35808" y="24871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多方约束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3291840" y="3035808"/>
            <a:ext cx="1005840" cy="0"/>
          </a:xfrm>
          <a:prstGeom prst="line">
            <a:avLst/>
          </a:prstGeom>
          <a:noFill/>
          <a:ln w="25400">
            <a:solidFill>
              <a:srgbClr val="426E9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035808" y="33101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执行方案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3017520" y="4096512"/>
            <a:ext cx="1545336" cy="868680"/>
          </a:xfrm>
          <a:prstGeom prst="roundRect">
            <a:avLst>
              <a:gd name="adj" fmla="val 8421"/>
            </a:avLst>
          </a:prstGeom>
          <a:solidFill>
            <a:srgbClr val="E3EBF3"/>
          </a:solidFill>
          <a:ln w="10160">
            <a:solidFill>
              <a:srgbClr val="E3EB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63824" y="4215384"/>
            <a:ext cx="1252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时间冲突 → 调课候选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4809744" y="32552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DA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175504" y="1591056"/>
            <a:ext cx="1874520" cy="397764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75504" y="1591056"/>
            <a:ext cx="1874520" cy="585216"/>
          </a:xfrm>
          <a:prstGeom prst="roundRect">
            <a:avLst>
              <a:gd name="adj" fmla="val 12500"/>
            </a:avLst>
          </a:prstGeom>
          <a:solidFill>
            <a:srgbClr val="E58B44"/>
          </a:solidFill>
          <a:ln w="10160">
            <a:solidFill>
              <a:srgbClr val="E58B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58384" y="17190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58384" y="24871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人类判断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5614416" y="3035808"/>
            <a:ext cx="1005840" cy="0"/>
          </a:xfrm>
          <a:prstGeom prst="line">
            <a:avLst/>
          </a:prstGeom>
          <a:noFill/>
          <a:ln w="25400">
            <a:solidFill>
              <a:srgbClr val="E58B44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358384" y="33101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可审阅成果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5340096" y="4096512"/>
            <a:ext cx="1545336" cy="868680"/>
          </a:xfrm>
          <a:prstGeom prst="roundRect">
            <a:avLst>
              <a:gd name="adj" fmla="val 8421"/>
            </a:avLst>
          </a:prstGeom>
          <a:solidFill>
            <a:srgbClr val="F8E8D8"/>
          </a:solidFill>
          <a:ln w="10160">
            <a:solidFill>
              <a:srgbClr val="F8E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4215384"/>
            <a:ext cx="1252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课堂表现 → 学情草稿</a:t>
            </a:r>
            <a:endParaRPr lang="en-US" sz="1010" dirty="0"/>
          </a:p>
        </p:txBody>
      </p:sp>
      <p:sp>
        <p:nvSpPr>
          <p:cNvPr id="35" name="Text 33"/>
          <p:cNvSpPr/>
          <p:nvPr/>
        </p:nvSpPr>
        <p:spPr>
          <a:xfrm>
            <a:off x="7132320" y="32552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DA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498080" y="1591056"/>
            <a:ext cx="1874520" cy="397764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0" y="1591056"/>
            <a:ext cx="1874520" cy="585216"/>
          </a:xfrm>
          <a:prstGeom prst="roundRect">
            <a:avLst>
              <a:gd name="adj" fmla="val 12500"/>
            </a:avLst>
          </a:prstGeom>
          <a:solidFill>
            <a:srgbClr val="C85A55"/>
          </a:solidFill>
          <a:ln w="10160">
            <a:solidFill>
              <a:srgbClr val="C85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17190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24871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异常信号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7936992" y="3035808"/>
            <a:ext cx="1005840" cy="0"/>
          </a:xfrm>
          <a:prstGeom prst="line">
            <a:avLst/>
          </a:prstGeom>
          <a:noFill/>
          <a:ln w="25400">
            <a:solidFill>
              <a:srgbClr val="C85A55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680960" y="33101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85A5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处理事项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7662672" y="4096512"/>
            <a:ext cx="1545336" cy="868680"/>
          </a:xfrm>
          <a:prstGeom prst="roundRect">
            <a:avLst>
              <a:gd name="adj" fmla="val 8421"/>
            </a:avLst>
          </a:prstGeom>
          <a:solidFill>
            <a:srgbClr val="F6E3E0"/>
          </a:solidFill>
          <a:ln w="10160">
            <a:solidFill>
              <a:srgbClr val="F6E3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08976" y="4215384"/>
            <a:ext cx="1252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听不到 → 技术工单</a:t>
            </a:r>
            <a:endParaRPr lang="en-US" sz="1010" dirty="0"/>
          </a:p>
        </p:txBody>
      </p:sp>
      <p:sp>
        <p:nvSpPr>
          <p:cNvPr id="44" name="Text 42"/>
          <p:cNvSpPr/>
          <p:nvPr/>
        </p:nvSpPr>
        <p:spPr>
          <a:xfrm>
            <a:off x="9454896" y="32552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DA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820656" y="1591056"/>
            <a:ext cx="1874520" cy="397764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820656" y="1591056"/>
            <a:ext cx="1874520" cy="585216"/>
          </a:xfrm>
          <a:prstGeom prst="roundRect">
            <a:avLst>
              <a:gd name="adj" fmla="val 12500"/>
            </a:avLst>
          </a:prstGeom>
          <a:solidFill>
            <a:srgbClr val="7A62A6"/>
          </a:solidFill>
          <a:ln w="10160">
            <a:solidFill>
              <a:srgbClr val="7A62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03536" y="17190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03536" y="24871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短暂表达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0259568" y="3035808"/>
            <a:ext cx="1005840" cy="0"/>
          </a:xfrm>
          <a:prstGeom prst="line">
            <a:avLst/>
          </a:prstGeom>
          <a:noFill/>
          <a:ln w="25400">
            <a:solidFill>
              <a:srgbClr val="7A62A6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10003536" y="33101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任务上下文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9985248" y="4096512"/>
            <a:ext cx="1545336" cy="868680"/>
          </a:xfrm>
          <a:prstGeom prst="roundRect">
            <a:avLst>
              <a:gd name="adj" fmla="val 8421"/>
            </a:avLst>
          </a:prstGeom>
          <a:solidFill>
            <a:srgbClr val="ECE7F5"/>
          </a:solidFill>
          <a:ln w="10160">
            <a:solidFill>
              <a:srgbClr val="ECE7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31552" y="4215384"/>
            <a:ext cx="1252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聊天证据 → ContextSnapshot</a:t>
            </a:r>
            <a:endParaRPr lang="en-US" sz="1010" dirty="0"/>
          </a:p>
        </p:txBody>
      </p:sp>
      <p:sp>
        <p:nvSpPr>
          <p:cNvPr id="53" name="Shape 51"/>
          <p:cNvSpPr/>
          <p:nvPr/>
        </p:nvSpPr>
        <p:spPr>
          <a:xfrm>
            <a:off x="1234440" y="5797296"/>
            <a:ext cx="9720072" cy="438912"/>
          </a:xfrm>
          <a:prstGeom prst="roundRect">
            <a:avLst>
              <a:gd name="adj" fmla="val 16667"/>
            </a:avLst>
          </a:prstGeom>
          <a:solidFill>
            <a:srgbClr val="0B2D3B"/>
          </a:solidFill>
          <a:ln w="10160">
            <a:solidFill>
              <a:srgbClr val="0B2D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508760" y="5806440"/>
            <a:ext cx="9171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核心原则：业务系统拥有正式事实；AI 理解和提案；用户确认；执行结果可追溯。</a:t>
            </a:r>
            <a:endParaRPr lang="en-US" sz="12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STACK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IM、业务对象、Agent 与治理，需要一起设计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如果只做“聊天框 + AI”，高频问题仍然无法闭环。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  判断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13232" y="4800600"/>
            <a:ext cx="6446520" cy="749808"/>
          </a:xfrm>
          <a:prstGeom prst="roundRect">
            <a:avLst>
              <a:gd name="adj" fmla="val 9756"/>
            </a:avLst>
          </a:prstGeom>
          <a:solidFill>
            <a:srgbClr val="0B2D3B"/>
          </a:solidFill>
          <a:ln w="10160">
            <a:solidFill>
              <a:srgbClr val="0B2D3B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9264" y="49469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 基础 IM 交互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2953512" y="4937760"/>
            <a:ext cx="3959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2F7F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清楚表达、引用、回应和组织：投票／回复／附件／成员治理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950976" y="3858768"/>
            <a:ext cx="5971032" cy="749808"/>
          </a:xfrm>
          <a:prstGeom prst="roundRect">
            <a:avLst>
              <a:gd name="adj" fmla="val 9756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07008" y="4005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  教育业务对象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3191256" y="3995928"/>
            <a:ext cx="3483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2F7F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课程／课堂／作业／材料／到课／报告的正式状态与权限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188720" y="2916936"/>
            <a:ext cx="5495544" cy="749808"/>
          </a:xfrm>
          <a:prstGeom prst="roundRect">
            <a:avLst>
              <a:gd name="adj" fmla="val 9756"/>
            </a:avLst>
          </a:prstGeom>
          <a:solidFill>
            <a:srgbClr val="426E9B"/>
          </a:solidFill>
          <a:ln w="10160">
            <a:solidFill>
              <a:srgbClr val="426E9B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44752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  Agent 辅助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3429000" y="3054096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2F7F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理解多轮上下文、提取约束、生成草稿、检索和提出候选方案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1426464" y="1975104"/>
            <a:ext cx="5020056" cy="749808"/>
          </a:xfrm>
          <a:prstGeom prst="roundRect">
            <a:avLst>
              <a:gd name="adj" fmla="val 9756"/>
            </a:avLst>
          </a:prstGeom>
          <a:solidFill>
            <a:srgbClr val="E58B44"/>
          </a:solidFill>
          <a:ln w="10160">
            <a:solidFill>
              <a:srgbClr val="E58B44"/>
            </a:solidFill>
            <a:prstDash val="solid"/>
          </a:ln>
          <a:effectLst>
            <a:outerShdw sx="100000" sy="100000" kx="0" ky="0" algn="bl" rotWithShape="0" blurRad="19050" dist="50800" dir="2700000">
              <a:srgbClr val="A8B4B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82496" y="2121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  治理与执行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3666744" y="2112264"/>
            <a:ext cx="2532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2F7F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人工审批、领域校验、通知范围、执行回执与可追溯证据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1143000" y="58155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从下往上提供能力，从上往下施加约束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35240" y="1572768"/>
            <a:ext cx="3931920" cy="4462272"/>
          </a:xfrm>
          <a:prstGeom prst="roundRect">
            <a:avLst>
              <a:gd name="adj" fmla="val 1860"/>
            </a:avLst>
          </a:prstGeom>
          <a:solidFill>
            <a:srgbClr val="FFFDF8"/>
          </a:solidFill>
          <a:ln w="10160">
            <a:solidFill>
              <a:srgbClr val="D7DE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36992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Agent 应该出现在哪里？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936992" y="2496312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DCEFEA"/>
          </a:solidFill>
          <a:ln w="10160">
            <a:solidFill>
              <a:srgbClr val="DCEF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36992" y="2500884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轻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23960" y="24780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不要求用户先理解 Agent／Skill／模型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7936992" y="3191256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E3EBF3"/>
          </a:solidFill>
          <a:ln w="10160">
            <a:solidFill>
              <a:srgbClr val="E3EB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36992" y="3195828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26E9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结果式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23960" y="31729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默认给出可检查的方案、草稿或动作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7936992" y="3886200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F8E8D8"/>
          </a:solidFill>
          <a:ln w="10160">
            <a:solidFill>
              <a:srgbClr val="F8E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36992" y="3890772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业务节点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823960" y="38679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出现在意图即将变成课程、作业或报告时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7936992" y="4581144"/>
            <a:ext cx="713232" cy="274320"/>
          </a:xfrm>
          <a:prstGeom prst="roundRect">
            <a:avLst>
              <a:gd name="adj" fmla="val 26667"/>
            </a:avLst>
          </a:prstGeom>
          <a:solidFill>
            <a:srgbClr val="ECE7F5"/>
          </a:solidFill>
          <a:ln w="10160">
            <a:solidFill>
              <a:srgbClr val="ECE7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36992" y="4585716"/>
            <a:ext cx="713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62A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可外化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823960" y="45628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结果可以回到原会话，并分享给授权对象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7936992" y="543153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5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TeachBuddy 不应成为悬浮在业务之外的通用问答。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MATURITY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哪些方向更成熟，哪些还只是启发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这是“证据成熟度 × 风险”的初步分层，不是最终路线图。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  取舍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051560" y="1572768"/>
            <a:ext cx="5006340" cy="2148840"/>
          </a:xfrm>
          <a:prstGeom prst="rect">
            <a:avLst/>
          </a:prstGeom>
          <a:solidFill>
            <a:srgbClr val="DCEFE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57900" y="1572768"/>
            <a:ext cx="5006340" cy="2148840"/>
          </a:xfrm>
          <a:prstGeom prst="rect">
            <a:avLst/>
          </a:prstGeom>
          <a:solidFill>
            <a:srgbClr val="F8E8D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721608"/>
            <a:ext cx="5006340" cy="2148840"/>
          </a:xfrm>
          <a:prstGeom prst="rect">
            <a:avLst/>
          </a:prstGeom>
          <a:solidFill>
            <a:srgbClr val="ECF0E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7900" y="3721608"/>
            <a:ext cx="5006340" cy="2148840"/>
          </a:xfrm>
          <a:prstGeom prst="rect">
            <a:avLst/>
          </a:prstGeom>
          <a:solidFill>
            <a:srgbClr val="F6E3E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7900" y="1572768"/>
            <a:ext cx="0" cy="429768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  <a:headEnd type="none"/>
          </a:ln>
        </p:spPr>
      </p:sp>
      <p:sp>
        <p:nvSpPr>
          <p:cNvPr id="14" name="Shape 12"/>
          <p:cNvSpPr/>
          <p:nvPr/>
        </p:nvSpPr>
        <p:spPr>
          <a:xfrm>
            <a:off x="1051560" y="3721608"/>
            <a:ext cx="10012680" cy="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  <a:headEnd type="none"/>
          </a:ln>
        </p:spPr>
      </p:sp>
      <p:sp>
        <p:nvSpPr>
          <p:cNvPr id="15" name="Text 13"/>
          <p:cNvSpPr/>
          <p:nvPr/>
        </p:nvSpPr>
        <p:spPr>
          <a:xfrm rot="16200000">
            <a:off x="91440" y="233172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证据较强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 rot="16200000">
            <a:off x="91440" y="46634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证据较弱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77440" y="5989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较低风险／容易核验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0" y="5989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5A5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较高风险／专业判断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7160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优先进入问题地图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71600" y="2267712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2272284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排课／调课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788920" y="2267712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2272284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到课与请假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206240" y="2267712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272284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资料分享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1371600" y="2770632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2775204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作业闭环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2788920" y="2770632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2775204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技术故障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382512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9A54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真实需求成立，但必须人审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82512" y="2267712"/>
            <a:ext cx="1481328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272284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课后／学情反馈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8046720" y="2267712"/>
            <a:ext cx="1481328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2272284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教师教学评价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6382512" y="2770632"/>
            <a:ext cx="1481328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2775204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机构规则与入职</a:t>
            </a:r>
            <a:endParaRPr lang="en-US" sz="910" dirty="0"/>
          </a:p>
        </p:txBody>
      </p:sp>
      <p:sp>
        <p:nvSpPr>
          <p:cNvPr id="37" name="Text 35"/>
          <p:cNvSpPr/>
          <p:nvPr/>
        </p:nvSpPr>
        <p:spPr>
          <a:xfrm>
            <a:off x="1371600" y="3941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产品探索池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371600" y="443484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0" y="443941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群内投票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3017520" y="443484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443941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回复／表情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1371600" y="493776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0" y="494233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自由专题群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3017520" y="493776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494233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课程内容生成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6382512" y="3941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C85A5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独立高风险研究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382512" y="4434840"/>
            <a:ext cx="1481328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4439412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85A5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课堂视觉判断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8046720" y="4434840"/>
            <a:ext cx="1481328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4439412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85A5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自动电话外呼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6382512" y="4937760"/>
            <a:ext cx="1481328" cy="274320"/>
          </a:xfrm>
          <a:prstGeom prst="roundRect">
            <a:avLst>
              <a:gd name="adj" fmla="val 26667"/>
            </a:avLst>
          </a:prstGeom>
          <a:solidFill>
            <a:srgbClr val="FFFDF8"/>
          </a:solidFill>
          <a:ln w="10160">
            <a:solidFill>
              <a:srgbClr val="FFF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2512" y="4942332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85A5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长期个人画像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1280160" y="559612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共同研究的调整：课程内容生成是 TeachBuddy 的独立价值链，但本次 IM 数据对其优先级支持弱于调课、资料、作业、到课与技术排障。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INPUT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真实聊天是宝贵的 Context，但不等于客观事实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57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“真实发生过的表达”与“表达内容客观正确”是两件事。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607040" y="274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147A72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0" y="274320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  Context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6455664"/>
            <a:ext cx="11109960" cy="0"/>
          </a:xfrm>
          <a:prstGeom prst="line">
            <a:avLst/>
          </a:prstGeom>
          <a:noFill/>
          <a:ln w="8890">
            <a:solidFill>
              <a:srgbClr val="D7DEDC"/>
            </a:solidFill>
            <a:prstDash val="solid"/>
            <a:headEnd type="none"/>
          </a:ln>
        </p:spPr>
      </p:sp>
      <p:sp>
        <p:nvSpPr>
          <p:cNvPr id="8" name="Text 6"/>
          <p:cNvSpPr/>
          <p:nvPr/>
        </p:nvSpPr>
        <p:spPr>
          <a:xfrm>
            <a:off x="502920" y="64922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78878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ClassIn IM 真实会话调研  ·  固定样本内事实，不直接外推为全平台发生率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03504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2D3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三类一手输入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9808" y="1965960"/>
            <a:ext cx="658368" cy="658368"/>
          </a:xfrm>
          <a:prstGeom prst="ellipse">
            <a:avLst/>
          </a:prstGeom>
          <a:solidFill>
            <a:srgbClr val="147A72"/>
          </a:solidFill>
          <a:ln w="12700">
            <a:solidFill>
              <a:srgbClr val="147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6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师</a:t>
            </a:r>
            <a:endParaRPr lang="en-US" sz="1296" dirty="0"/>
          </a:p>
        </p:txBody>
      </p:sp>
      <p:sp>
        <p:nvSpPr>
          <p:cNvPr id="12" name="Text 10"/>
          <p:cNvSpPr/>
          <p:nvPr/>
        </p:nvSpPr>
        <p:spPr>
          <a:xfrm>
            <a:off x="429768" y="26974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教师评价学生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212848" y="1965960"/>
            <a:ext cx="658368" cy="658368"/>
          </a:xfrm>
          <a:prstGeom prst="ellipse">
            <a:avLst/>
          </a:prstGeom>
          <a:solidFill>
            <a:srgbClr val="426E9B"/>
          </a:solidFill>
          <a:ln w="12700">
            <a:solidFill>
              <a:srgbClr val="426E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12848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6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</a:t>
            </a:r>
            <a:endParaRPr lang="en-US" sz="1296" dirty="0"/>
          </a:p>
        </p:txBody>
      </p:sp>
      <p:sp>
        <p:nvSpPr>
          <p:cNvPr id="15" name="Text 13"/>
          <p:cNvSpPr/>
          <p:nvPr/>
        </p:nvSpPr>
        <p:spPr>
          <a:xfrm>
            <a:off x="1892808" y="26974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管理者反馈教师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675888" y="1965960"/>
            <a:ext cx="658368" cy="658368"/>
          </a:xfrm>
          <a:prstGeom prst="ellipse">
            <a:avLst/>
          </a:prstGeom>
          <a:solidFill>
            <a:srgbClr val="7A62A6"/>
          </a:solidFill>
          <a:ln w="12700">
            <a:solidFill>
              <a:srgbClr val="7A62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6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</a:t>
            </a:r>
            <a:endParaRPr lang="en-US" sz="1296" dirty="0"/>
          </a:p>
        </p:txBody>
      </p:sp>
      <p:sp>
        <p:nvSpPr>
          <p:cNvPr id="18" name="Text 16"/>
          <p:cNvSpPr/>
          <p:nvPr/>
        </p:nvSpPr>
        <p:spPr>
          <a:xfrm>
            <a:off x="3355848" y="26974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学生自我表达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78992" y="2907792"/>
            <a:ext cx="2926080" cy="685800"/>
          </a:xfrm>
          <a:prstGeom prst="line">
            <a:avLst/>
          </a:prstGeom>
          <a:noFill/>
          <a:ln w="16510">
            <a:solidFill>
              <a:srgbClr val="A8B8B6"/>
            </a:solidFill>
            <a:prstDash val="dash"/>
            <a:headEnd type="none"/>
          </a:ln>
        </p:spPr>
      </p:sp>
      <p:sp>
        <p:nvSpPr>
          <p:cNvPr id="20" name="Shape 18"/>
          <p:cNvSpPr/>
          <p:nvPr/>
        </p:nvSpPr>
        <p:spPr>
          <a:xfrm>
            <a:off x="2542032" y="2907792"/>
            <a:ext cx="1463040" cy="685800"/>
          </a:xfrm>
          <a:prstGeom prst="line">
            <a:avLst/>
          </a:prstGeom>
          <a:noFill/>
          <a:ln w="16510">
            <a:solidFill>
              <a:srgbClr val="A8B8B6"/>
            </a:solidFill>
            <a:prstDash val="dash"/>
            <a:headEnd type="none"/>
          </a:ln>
        </p:spPr>
      </p:sp>
      <p:sp>
        <p:nvSpPr>
          <p:cNvPr id="21" name="Shape 19"/>
          <p:cNvSpPr/>
          <p:nvPr/>
        </p:nvSpPr>
        <p:spPr>
          <a:xfrm>
            <a:off x="4005072" y="2907792"/>
            <a:ext cx="0" cy="685800"/>
          </a:xfrm>
          <a:prstGeom prst="line">
            <a:avLst/>
          </a:prstGeom>
          <a:noFill/>
          <a:ln w="16510">
            <a:solidFill>
              <a:srgbClr val="A8B8B6"/>
            </a:solidFill>
            <a:prstDash val="dash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2148840" y="365760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0B2D3B"/>
          </a:solidFill>
          <a:ln w="10160">
            <a:solidFill>
              <a:srgbClr val="0B2D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14016" y="38221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Claim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785616" y="37947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CE9E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谁在何时、针对谁、表达了什么，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CE9E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原始证据与适用范围在哪里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016752" y="4160520"/>
            <a:ext cx="502920" cy="0"/>
          </a:xfrm>
          <a:prstGeom prst="line">
            <a:avLst/>
          </a:prstGeom>
          <a:noFill/>
          <a:ln w="22860">
            <a:solidFill>
              <a:srgbClr val="147A7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656832" y="3401568"/>
            <a:ext cx="2029968" cy="1536192"/>
          </a:xfrm>
          <a:prstGeom prst="roundRect">
            <a:avLst>
              <a:gd name="adj" fmla="val 4762"/>
            </a:avLst>
          </a:prstGeom>
          <a:solidFill>
            <a:srgbClr val="DCEFEA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361188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ContextSnapshot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39712" y="40416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只装入当前任务需要、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当前权限允许的上下文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823960" y="4160520"/>
            <a:ext cx="502920" cy="0"/>
          </a:xfrm>
          <a:prstGeom prst="line">
            <a:avLst/>
          </a:prstGeom>
          <a:noFill/>
          <a:ln w="22860">
            <a:solidFill>
              <a:srgbClr val="E58B4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454896" y="3401568"/>
            <a:ext cx="2057400" cy="1536192"/>
          </a:xfrm>
          <a:prstGeom prst="roundRect">
            <a:avLst>
              <a:gd name="adj" fmla="val 4762"/>
            </a:avLst>
          </a:prstGeom>
          <a:solidFill>
            <a:srgbClr val="F8E8D8"/>
          </a:solidFill>
          <a:ln w="10160">
            <a:solidFill>
              <a:srgbClr val="E58B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37776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A542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草稿／建议／动作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637776" y="4041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人审 + 领域校验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再发布或写回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731520" y="5321808"/>
            <a:ext cx="3346704" cy="73152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0160">
            <a:solidFill>
              <a:srgbClr val="147A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5468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47A7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可观察事实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1984248" y="542239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到课、文件已发、可用时间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4425696" y="5321808"/>
            <a:ext cx="3346704" cy="73152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0160">
            <a:solidFill>
              <a:srgbClr val="E58B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5468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58B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主观专业判断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5678424" y="542239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注意力、掌握情况、教学评价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8119872" y="5321808"/>
            <a:ext cx="3346704" cy="73152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0160">
            <a:solidFill>
              <a:srgbClr val="C85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0" y="5468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C85A5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推断性特征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9372600" y="542239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52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情绪、动机、性格与长期画像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1828800" y="6126480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5A5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越靠近“推断性特征”，越需要最小化使用、明确授权、可申诉和有限保留。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73952"/>
            <a:ext cx="47548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B8C9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21792" y="914400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下一步：从“聊了什么”走向“值得解决什么”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9D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Topic、分类和角色研究已经完成；接下来不再重做标签，而是建立问题与需求地图。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67712"/>
            <a:ext cx="2331720" cy="2487168"/>
          </a:xfrm>
          <a:prstGeom prst="roundRect">
            <a:avLst>
              <a:gd name="adj" fmla="val 3137"/>
            </a:avLst>
          </a:prstGeom>
          <a:solidFill>
            <a:srgbClr val="163E4A"/>
          </a:solidFill>
          <a:ln w="10160">
            <a:solidFill>
              <a:srgbClr val="3157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96312"/>
            <a:ext cx="475488" cy="475488"/>
          </a:xfrm>
          <a:prstGeom prst="ellipse">
            <a:avLst/>
          </a:prstGeom>
          <a:solidFill>
            <a:srgbClr val="3C9B8F"/>
          </a:solidFill>
          <a:ln w="12700">
            <a:solidFill>
              <a:srgbClr val="3C9B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0392" y="32278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回到代表性 Case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3767328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9D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从高覆盖 Topic 和关键角色组合中，选取完整会话现场。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35808" y="3502152"/>
            <a:ext cx="274320" cy="0"/>
          </a:xfrm>
          <a:prstGeom prst="line">
            <a:avLst/>
          </a:prstGeom>
          <a:noFill/>
          <a:ln w="16510">
            <a:solidFill>
              <a:srgbClr val="6B8B9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2267712"/>
            <a:ext cx="2331720" cy="2487168"/>
          </a:xfrm>
          <a:prstGeom prst="roundRect">
            <a:avLst>
              <a:gd name="adj" fmla="val 3137"/>
            </a:avLst>
          </a:prstGeom>
          <a:solidFill>
            <a:srgbClr val="163E4A"/>
          </a:solidFill>
          <a:ln w="10160">
            <a:solidFill>
              <a:srgbClr val="3157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0168" y="2496312"/>
            <a:ext cx="475488" cy="475488"/>
          </a:xfrm>
          <a:prstGeom prst="ellipse">
            <a:avLst/>
          </a:prstGeom>
          <a:solidFill>
            <a:srgbClr val="426E9B"/>
          </a:solidFill>
          <a:ln w="12700">
            <a:solidFill>
              <a:srgbClr val="426E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39312" y="32278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识别真实摩擦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39312" y="3767328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9D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区分信息缺口、协作成本、规则问题、体验问题和不值得产品化的内容。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24728" y="3502152"/>
            <a:ext cx="274320" cy="0"/>
          </a:xfrm>
          <a:prstGeom prst="line">
            <a:avLst/>
          </a:prstGeom>
          <a:noFill/>
          <a:ln w="16510">
            <a:solidFill>
              <a:srgbClr val="6B8B9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2267712"/>
            <a:ext cx="2331720" cy="2487168"/>
          </a:xfrm>
          <a:prstGeom prst="roundRect">
            <a:avLst>
              <a:gd name="adj" fmla="val 3137"/>
            </a:avLst>
          </a:prstGeom>
          <a:solidFill>
            <a:srgbClr val="163E4A"/>
          </a:solidFill>
          <a:ln w="10160">
            <a:solidFill>
              <a:srgbClr val="3157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2496312"/>
            <a:ext cx="475488" cy="475488"/>
          </a:xfrm>
          <a:prstGeom prst="ellipse">
            <a:avLst/>
          </a:prstGeom>
          <a:solidFill>
            <a:srgbClr val="E58B44"/>
          </a:solidFill>
          <a:ln w="12700">
            <a:solidFill>
              <a:srgbClr val="E58B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28232" y="32278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选择承接层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28232" y="3767328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9D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判断应该由基础 IM、业务工作流、AI 辅助或人工服务解决。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13648" y="3502152"/>
            <a:ext cx="274320" cy="0"/>
          </a:xfrm>
          <a:prstGeom prst="line">
            <a:avLst/>
          </a:prstGeom>
          <a:noFill/>
          <a:ln w="16510">
            <a:solidFill>
              <a:srgbClr val="6B8B9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06840" y="2267712"/>
            <a:ext cx="2331720" cy="2487168"/>
          </a:xfrm>
          <a:prstGeom prst="roundRect">
            <a:avLst>
              <a:gd name="adj" fmla="val 3137"/>
            </a:avLst>
          </a:prstGeom>
          <a:solidFill>
            <a:srgbClr val="163E4A"/>
          </a:solidFill>
          <a:ln w="10160">
            <a:solidFill>
              <a:srgbClr val="3157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2496312"/>
            <a:ext cx="475488" cy="475488"/>
          </a:xfrm>
          <a:prstGeom prst="ellipse">
            <a:avLst/>
          </a:prstGeom>
          <a:solidFill>
            <a:srgbClr val="7A62A6"/>
          </a:solidFill>
          <a:ln w="12700">
            <a:solidFill>
              <a:srgbClr val="7A62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17152" y="32278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验证纵向闭环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17152" y="3767328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9D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围绕 3–5 个场景做原型，测效率、准确性、采用意愿与真实结果。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1937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8FD1C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建议优先进入问题地图的场景池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2816352" y="5138928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254B57"/>
          </a:solidFill>
          <a:ln w="10160">
            <a:solidFill>
              <a:srgbClr val="254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5143500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排课／调课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4087368" y="5138928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254B57"/>
          </a:solidFill>
          <a:ln w="10160">
            <a:solidFill>
              <a:srgbClr val="254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87368" y="5143500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到课／请假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358384" y="513892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254B57"/>
          </a:solidFill>
          <a:ln w="10160">
            <a:solidFill>
              <a:srgbClr val="254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58384" y="514350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资料分享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510528" y="513892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254B57"/>
          </a:solidFill>
          <a:ln w="10160">
            <a:solidFill>
              <a:srgbClr val="254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514350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作业闭环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7662672" y="513892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254B57"/>
          </a:solidFill>
          <a:ln w="10160">
            <a:solidFill>
              <a:srgbClr val="254B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62672" y="514350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技术排障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8814816" y="513892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254B57"/>
          </a:solidFill>
          <a:ln w="10160">
            <a:solidFill>
              <a:srgbClr val="254B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14816" y="5143500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学情反馈（高治理）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640080" y="59710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最终目标：让 IM 不只是消息流，而成为 ClassIn 教学服务与 AI Agent 协同的业务入口。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CA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ClassIn IM 真实会话调研 · 2026.09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ClassIn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人们在 ClassIn IM 里，究竟在聊什么？</dc:title>
  <dc:subject>ClassIn IM 真实会话语义调研管理层汇报</dc:subject>
  <dc:creator>ClassIn AI IM Research</dc:creator>
  <cp:lastModifiedBy>ClassIn AI IM Research</cp:lastModifiedBy>
  <cp:revision>1</cp:revision>
  <dcterms:created xsi:type="dcterms:W3CDTF">2026-09-03T13:42:22Z</dcterms:created>
  <dcterms:modified xsi:type="dcterms:W3CDTF">2026-09-03T13:42:22Z</dcterms:modified>
</cp:coreProperties>
</file>